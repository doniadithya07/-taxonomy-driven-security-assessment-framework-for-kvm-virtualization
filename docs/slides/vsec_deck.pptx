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this is a design and implementation project built with an AI assistant, and it has no measured results.</a:t>
            </a:r>
          </a:p>
          <a:p>
            <a:r>
              <a:t>I am [STUDENT NAME]. This is a one-student project, built with an AI coding assistant (Claude) that wrote most of the code, tests and first drafts. Reviews were done by AI agents only, in three waves; no human reviewed the work. Today I present the framework and the experiment design, plus an implementation that passes its own tests. I have no real measurements. The planned PC booted from an external SSD, called E1, was never built, so there are no native-versus-VM results, no memory-dump results and no Volatility results.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a survey names threats but not what is testable; we turn them into testable controls and ask whether several behaviour signals beat one.</a:t>
            </a:r>
          </a:p>
          <a:p>
            <a:r>
              <a:t>A 2020 virtualization-security survey lists many threats and controls but does not say which can be tested on a modern KVM stack. Its full citation is still to be supplied. The 31 controls and 9 threat classes are this project's own mapping, not mapped to the survey's sections. Question: which hold, which fail, which cannot be tested; 'cannot be tested' is a valid answer, reported as N/A. Centrepiece, module M4: a VMBR is a hypervisor-based rootkit; our stand-in only hides static indicators and is not a real one.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one pipeline from taxonomy to matrix, and PASS only means 'passed its test'.</a:t>
            </a:r>
          </a:p>
          <a:p>
            <a:r>
              <a:t>The taxonomy of 9 threat classes and 31 controls is split across 4 modules: M1 configuration auditor, M2 snapshot privacy, M3 offline forensics, M4 multi-signal hypervisor detection. Each writes the same finding format, and one report command builds the result matrix. Honesty rules: PASS means the control passed its defined test, never that the system is secure. NA is never PASS; on a seeded fault it counts as a miss. Simulated data is never a result.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nine threat classes, and only some are tested directly; the rest are Config-proxy, meaning configuration or version checks.</a:t>
            </a:r>
          </a:p>
          <a:p>
            <a:r>
              <a:t>31 controls in 9 threat classes, the project's own mapping. The label says how a class is tested, not the result. Config-proxy means only configuration or a version is checked, not an attack: Host-&gt;VMM, VMM vulnerabilities, side channels and Guest-&gt;Guest. Guest-&gt;Guest gets its PASS from a host-side check of the network definition; a guest scan can only add a FAIL. DMA/IOMMU needs E1, not built. C23 and C24 use a fixture CVE list; the real list gives NA.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84/84 on my own fixtures shows self-consistency, not real-world correctness.</a:t>
            </a:r>
          </a:p>
          <a:p>
            <a:r>
              <a:t>M1 has 28 controls: 15 config checks that read files, 11 live checks that prove a control is active (for example the Seccomp field, or sVirt, libvirt's per-VM security labels), and 2 version checks. The 84/84: 50 fixtures with 84 seeded faults, 28 controls times 3, all found; 0 false alarms in 1,310 clean checks; 6 NA predictions. But the checker's author wrote the fixtures and the same AI wrote the tests, so this is self-consistency, not correctness. Lynis and OpenSCAP would give independent evidence; planned, never run.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three small modules; only M1 has been run on its own fixtures, M2 and M3 only on synthetic input.</a:t>
            </a:r>
          </a:p>
          <a:p>
            <a:r>
              <a:t>M1 audits a host's configuration: 28 checks, each PASS, FAIL or NA. M2 scans VM memory snapshots for planted fake secrets; tested on synthetic dumps only. M3 uses Volatility 3, a memory-forensics tool, offline. pslist walks the kernel's own process list, psscan scans raw memory for process structures; a process only the scan finds is a hidden candidate. Volatility has not run on real dumps. Details are in the backup.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three machine classes to compare; the experiment needs a PC I have not built.</a:t>
            </a:r>
          </a:p>
          <a:p>
            <a:r>
              <a:t>M4 is the centrepiece, and it is a design with three machine classes: native (Ubuntu on the PC), kvm-plain (a QEMU/KVM guest, default settings) and kvm-masked (static indicators hidden with standard libvirt options; no time faking; not a real VMBR). It needs E1, the planned PC booted from an external SSD; not built. bench.c, the C benchmark, compiled with gcc 13.3 and zig. One functional run in WSL2 (a VM under Hyper-V) on 2026-10-04: the CSV loads, quality checks pass, no number is a finding. Never run natively or in a KVM guest.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four hypotheses with fixed pass rules, written down before any data; the plan is a draft.</a:t>
            </a:r>
          </a:p>
          <a:p>
            <a:r>
              <a:t>This is a pre-specified analysis plan: a draft in prereg.md, not yet committed or tagged, so it is not a registration. AUROC: how well a detector separates two classes; 0.5 is chance, 1 is perfect. Holm: a correction for testing several hypotheses at once. H1: combined signals beat the best single signal at the shortest useful time. H3: the drop in session AUROC on unseen workloads; upper 95% bootstrap bound under 0.05 and Holm p under 0.05; F1 drop is secondary. With 15 against 15 sessions a null result proves nothing.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everything runs in an isolated, reverted target VM; no real malware or credentials.</a:t>
            </a:r>
          </a:p>
          <a:p>
            <a:r>
              <a:t>Defensive research on my own hardware. Before any dump, a preflight script checks that no other VM runs, the target is offline and the target was reverted; the revert marker is single-use and expires in 15 minutes. The target VM has no network and is reverted before every experiment. The optional rootkit test runs only inside the isolated target, never on the host. No real malware, no VMBR, no real credentials. For E1: BitLocker key on paper first, internal disk disconnected during install.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built and tested on Windows and once on WSL2, with no real measurements.</a:t>
            </a:r>
          </a:p>
          <a:p>
            <a:r>
              <a:t>Built and tested, but nothing is measured. Last full Windows run: 1028 tests collected, 1009 passed, 19 skipped, about 4 minutes. Linux once under WSL2: 985 passed, 2 failed, 1 skipped; the 2 failures were fixed but the suite was not re-run. Not tested on native Linux or a KVM host. The tests were written by the same AI as the code. Limits: one machine and CPU model; kvm-masked is full QEMU/KVM, not a real VMBR; M1 truth is self-written; four classes are Config-proxy. M4 code ran only on simulated data.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none of this is done; it is the plan for what comes after this submission.</a:t>
            </a:r>
          </a:p>
          <a:p>
            <a:r>
              <a:t>Planned work, not done work. E1 is not built, so there are no native-versus-VM, M2-dump or Volatility results. The eight-week plan is a solo schedule and can be compressed. Before any real data, prereg.md must be committed and tagged. Lynis and OpenSCAP, two independent configuration scanners, are planned for M1 but never run. Never cut: plan committed before data, randomised sessions, the masked class, the result matrix, the preflight gate.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short on time, say only: one student with an AI assistant, no real measurements, analysis plan still a draft.</a:t>
            </a:r>
          </a:p>
          <a:p>
            <a:r>
              <a:t>Please state this plainly. One student worked with an AI assistant (Claude) that produced most of the code, tests, documents and first drafts. The tests show internal consistency, not real-world correctness. There are no real measurements; simulated numbers are not results. The analysis plan (prereg.md) is a draft, not yet committed. Reviews were by AI agents only, in three waves, with no human review. If asked whether 84/84 is proof: no, it is self-consistency. Backup slides follow with the finding format, M2, M3, engineering detail, empty results tables and likely questions.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module emits the same JSON finding: id, module, taxonomy class, control, status PASS, FAIL or NA, severity 1 to 4, evidence, fix, env and vm. For M4, PASS means the detected environment equals the declared one. report.py turns findings into the matrix. Matrix rule: a class shows PASS only if every control in the class was tested and passed; otherwise PARTIAL (some tested) or NA (none tested); any FAIL gives FAIL. Counts are never summed across different VMs. The tables are layout only, with no values.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do VM memory snapshots leak secrets. Four synthetic secret types in three memory states give 12 cells, at least 10 dumps per cell planned. Held-out variants (secrets split across page boundaries, UTF-16, base64) are a separate column, and the scanner rules are written without seeing them. Ground truth: a secret counts as present only if an exact search of the dump finds the planted bytes. The guest writes its own manifest, which cannot be trusted, so a host-side generator exists. Negative controls: empty and random high-entropy dumps. Synthetic dumps cannot tell live, freed and exited memory apart; only real VM dumps can. There is no real M2 data.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M3 runs Volatility 3 on virsh dump output, offline. It compares pslist (the kernel's own process list) against psscan (a raw-memory scan for process structures), and lsmod against a scan for kernel modules; an item in the scan but not in the list is 'unlinked'. The claim is limited to unlinked processes and modules at dump time; it is not live introspection. Symbols: one pinned guest kernel, symbol file built on the host with pinned sha256; unverified symbols give C30 = NA. Volatility runs in a sandbox script with no network and a memory cap. Ground truth would be public Linux forensic images with documented hidden processes. Scoring code is tested; Volatility has not run on real dumps and there is no M3 data.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and claim no more. Windows: 1028 tests collected, 1009 passed, 19 skipped (symlinks, POSIX permissions, bash and sandbox tests), about 4 minutes. Linux once under WSL2: 985 passed, 2 failed (since fixed), 1 skipped; not re-run after the fixes. Reviews: AI agents only, 3 waves, no human review, and the tests were written by the same AI that wrote the code. bench.c compiled with gcc 13.3 and zig; one functional run in WSL2 (a VM) on 2026-10-04; never native or in a KVM guest. The shell scripts pass bash -n only. A contract test pins the bench.c CSV columns to the feature loader.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tables are intentionally empty. No real measurement exists, and nothing from the simulated runs is shown. Simulated numbers must never be copied here. The only entry with a number is M1 on its own fixtures, which is self-consistency. Left: the M4 H1 to H4 table with the thresholds from the draft analysis plan. Right: module evaluation tables with ground truth, metric and interval columns.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is 84/84 not proof: the checker's author wrote the fixtures and the same AI wrote the tests; independent evidence needs Lynis, OpenSCAP and real configurations. Why E1 and not the laptop: Windows already runs on Hyper-V, so the laptop has no bare-metal setup. If E1 is impossible, M4 would compare 1 against 2 virtualization layers and the claim would be renamed. Why might H1 be untestable: timing alone may reach AUROC near 1.0, and then the ceiling rule reports untestable. Is kvm-masked a real stealth hypervisor: no. Does PASS mean secure: no. Where is the data: nothing real yet.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B3F"/>
        </a:solidFill>
        <a:effectLst/>
      </p:bgPr>
    </p:bg>
    <p:spTree>
      <p:nvGrpSpPr>
        <p:cNvPr id="1" name=""/>
        <p:cNvGrpSpPr/>
        <p:nvPr/>
      </p:nvGrpSpPr>
      <p:grpSpPr/>
      <p:sp>
        <p:nvSpPr>
          <p:cNvPr id="2" name="Title 1"/>
          <p:cNvSpPr>
            <a:spLocks noGrp="1"/>
          </p:cNvSpPr>
          <p:nvPr>
            <p:ph type="title"/>
          </p:nvPr>
        </p:nvSpPr>
        <p:spPr>
          <a:xfrm>
            <a:off x="731520" y="914400"/>
            <a:ext cx="10698480" cy="1737360"/>
          </a:xfrm>
        </p:spPr>
        <p:txBody>
          <a:bodyPr wrap="square"/>
          <a:lstStyle/>
          <a:p>
            <a:pPr algn="l"/>
            <a:r>
              <a:rPr sz="4400" b="1">
                <a:solidFill>
                  <a:srgbClr val="FFFFFF"/>
                </a:solidFill>
                <a:latin typeface="Calibri"/>
              </a:rPr>
              <a:t>Taxonomy-driven security assessment for KVM virtualization</a:t>
            </a:r>
          </a:p>
        </p:txBody>
      </p:sp>
      <p:sp>
        <p:nvSpPr>
          <p:cNvPr id="3" name="TextBox 2"/>
          <p:cNvSpPr txBox="1"/>
          <p:nvPr/>
        </p:nvSpPr>
        <p:spPr>
          <a:xfrm>
            <a:off x="731520" y="2743200"/>
            <a:ext cx="10698480" cy="457200"/>
          </a:xfrm>
          <a:prstGeom prst="rect">
            <a:avLst/>
          </a:prstGeom>
          <a:noFill/>
        </p:spPr>
        <p:txBody>
          <a:bodyPr wrap="square" anchor="t" lIns="45720" rIns="45720">
            <a:spAutoFit/>
          </a:bodyPr>
          <a:lstStyle/>
          <a:p>
            <a:pPr algn="l"/>
            <a:r>
              <a:rPr sz="2000" b="0">
                <a:solidFill>
                  <a:srgbClr val="FFD080"/>
                </a:solidFill>
                <a:latin typeface="Calibri"/>
              </a:rPr>
              <a:t>[COURSE / DATE]</a:t>
            </a:r>
          </a:p>
        </p:txBody>
      </p:sp>
      <p:sp>
        <p:nvSpPr>
          <p:cNvPr id="4" name="TextBox 3"/>
          <p:cNvSpPr txBox="1"/>
          <p:nvPr/>
        </p:nvSpPr>
        <p:spPr>
          <a:xfrm>
            <a:off x="731520" y="3291840"/>
            <a:ext cx="10698480" cy="822960"/>
          </a:xfrm>
          <a:prstGeom prst="rect">
            <a:avLst/>
          </a:prstGeom>
          <a:noFill/>
        </p:spPr>
        <p:txBody>
          <a:bodyPr wrap="square" anchor="t" lIns="45720" rIns="45720">
            <a:spAutoFit/>
          </a:bodyPr>
          <a:lstStyle/>
          <a:p>
            <a:pPr algn="l"/>
            <a:r>
              <a:rPr sz="2200" b="0">
                <a:solidFill>
                  <a:srgbClr val="BFE3E6"/>
                </a:solidFill>
                <a:latin typeface="Calibri"/>
              </a:rPr>
              <a:t>vsec: a framework that turns a survey's threat taxonomy into testable controls</a:t>
            </a:r>
          </a:p>
        </p:txBody>
      </p:sp>
      <p:sp>
        <p:nvSpPr>
          <p:cNvPr id="5" name="TextBox 4"/>
          <p:cNvSpPr txBox="1"/>
          <p:nvPr/>
        </p:nvSpPr>
        <p:spPr>
          <a:xfrm>
            <a:off x="731520" y="4160520"/>
            <a:ext cx="10698480" cy="640080"/>
          </a:xfrm>
          <a:prstGeom prst="rect">
            <a:avLst/>
          </a:prstGeom>
          <a:noFill/>
        </p:spPr>
        <p:txBody>
          <a:bodyPr wrap="square" anchor="t" lIns="45720" rIns="45720">
            <a:spAutoFit/>
          </a:bodyPr>
          <a:lstStyle/>
          <a:p>
            <a:pPr algn="l"/>
            <a:r>
              <a:rPr sz="1400" b="0">
                <a:solidFill>
                  <a:srgbClr val="FFFFFF"/>
                </a:solidFill>
                <a:latin typeface="Calibri"/>
              </a:rPr>
              <a:t>Built with an AI coding assistant (Claude); AI-agent reviews only, no human review. Design and implementation, no measured results.</a:t>
            </a:r>
          </a:p>
        </p:txBody>
      </p:sp>
      <p:sp>
        <p:nvSpPr>
          <p:cNvPr id="6" name="TextBox 5"/>
          <p:cNvSpPr txBox="1"/>
          <p:nvPr/>
        </p:nvSpPr>
        <p:spPr>
          <a:xfrm>
            <a:off x="731520" y="4892040"/>
            <a:ext cx="10698480" cy="457200"/>
          </a:xfrm>
          <a:prstGeom prst="rect">
            <a:avLst/>
          </a:prstGeom>
          <a:noFill/>
        </p:spPr>
        <p:txBody>
          <a:bodyPr wrap="square" anchor="t" lIns="45720" rIns="45720">
            <a:spAutoFit/>
          </a:bodyPr>
          <a:lstStyle/>
          <a:p>
            <a:pPr algn="l"/>
            <a:r>
              <a:rPr sz="1800" b="0">
                <a:solidFill>
                  <a:srgbClr val="FFFFFF"/>
                </a:solidFill>
                <a:latin typeface="Calibri"/>
              </a:rPr>
              <a:t>[STUDENT NAME]  |  one student, with an AI coding assistant (Claude)</a:t>
            </a:r>
          </a:p>
        </p:txBody>
      </p:sp>
      <p:sp>
        <p:nvSpPr>
          <p:cNvPr id="7" name="TextBox 6"/>
          <p:cNvSpPr txBox="1"/>
          <p:nvPr/>
        </p:nvSpPr>
        <p:spPr>
          <a:xfrm>
            <a:off x="731520" y="5440680"/>
            <a:ext cx="10698480" cy="731520"/>
          </a:xfrm>
          <a:prstGeom prst="rect">
            <a:avLst/>
          </a:prstGeom>
          <a:noFill/>
        </p:spPr>
        <p:txBody>
          <a:bodyPr wrap="square" anchor="t" lIns="45720" rIns="45720">
            <a:spAutoFit/>
          </a:bodyPr>
          <a:lstStyle/>
          <a:p>
            <a:pPr algn="l"/>
            <a:r>
              <a:rPr sz="1600" b="1">
                <a:solidFill>
                  <a:srgbClr val="FFD080"/>
                </a:solidFill>
                <a:latin typeface="Calibri"/>
              </a:rPr>
              <a:t>Remaining work, NOT part of this submission: E1 not built; no native-vs-VM, M2-dump or Volatility results.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Problem and research question</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2</a:t>
            </a:r>
          </a:p>
        </p:txBody>
      </p:sp>
      <p:sp>
        <p:nvSpPr>
          <p:cNvPr id="5" name="Rounded Rectangle 4"/>
          <p:cNvSpPr/>
          <p:nvPr/>
        </p:nvSpPr>
        <p:spPr>
          <a:xfrm>
            <a:off x="548640" y="1371600"/>
            <a:ext cx="5486400" cy="246888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5212080" cy="411480"/>
          </a:xfrm>
          <a:prstGeom prst="rect">
            <a:avLst/>
          </a:prstGeom>
          <a:noFill/>
        </p:spPr>
        <p:txBody>
          <a:bodyPr wrap="square" anchor="t" lIns="45720" rIns="45720">
            <a:spAutoFit/>
          </a:bodyPr>
          <a:lstStyle/>
          <a:p>
            <a:pPr algn="l"/>
            <a:r>
              <a:rPr sz="1600" b="1">
                <a:solidFill>
                  <a:srgbClr val="0B6B74"/>
                </a:solidFill>
                <a:latin typeface="Calibri"/>
              </a:rPr>
              <a:t>Research question</a:t>
            </a:r>
          </a:p>
        </p:txBody>
      </p:sp>
      <p:sp>
        <p:nvSpPr>
          <p:cNvPr id="7" name="TextBox 6"/>
          <p:cNvSpPr txBox="1"/>
          <p:nvPr/>
        </p:nvSpPr>
        <p:spPr>
          <a:xfrm>
            <a:off x="685800" y="1874519"/>
            <a:ext cx="5212080" cy="1874520"/>
          </a:xfrm>
          <a:prstGeom prst="rect">
            <a:avLst/>
          </a:prstGeom>
          <a:noFill/>
        </p:spPr>
        <p:txBody>
          <a:bodyPr wrap="square" anchor="t" lIns="45720" rIns="45720">
            <a:spAutoFit/>
          </a:bodyPr>
          <a:lstStyle/>
          <a:p>
            <a:pPr algn="l"/>
            <a:r>
              <a:rPr sz="1700" b="0">
                <a:solidFill>
                  <a:srgbClr val="222B33"/>
                </a:solidFill>
                <a:latin typeface="Calibri"/>
              </a:rPr>
              <a:t>Can the survey's threats and controls become testable controls on a modern KVM stack? Which hold, fail, or cannot be tested?</a:t>
            </a:r>
          </a:p>
        </p:txBody>
      </p:sp>
      <p:sp>
        <p:nvSpPr>
          <p:cNvPr id="8" name="Rounded Rectangle 7"/>
          <p:cNvSpPr/>
          <p:nvPr/>
        </p:nvSpPr>
        <p:spPr>
          <a:xfrm>
            <a:off x="6217920" y="1371600"/>
            <a:ext cx="5394960" cy="246888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63040"/>
            <a:ext cx="5120640" cy="411480"/>
          </a:xfrm>
          <a:prstGeom prst="rect">
            <a:avLst/>
          </a:prstGeom>
          <a:noFill/>
        </p:spPr>
        <p:txBody>
          <a:bodyPr wrap="square" anchor="t" lIns="45720" rIns="45720">
            <a:spAutoFit/>
          </a:bodyPr>
          <a:lstStyle/>
          <a:p>
            <a:pPr algn="l"/>
            <a:r>
              <a:rPr sz="1600" b="1">
                <a:solidFill>
                  <a:srgbClr val="0B6B74"/>
                </a:solidFill>
                <a:latin typeface="Calibri"/>
              </a:rPr>
              <a:t>Centrepiece (M4)</a:t>
            </a:r>
          </a:p>
        </p:txBody>
      </p:sp>
      <p:sp>
        <p:nvSpPr>
          <p:cNvPr id="10" name="TextBox 9"/>
          <p:cNvSpPr txBox="1"/>
          <p:nvPr/>
        </p:nvSpPr>
        <p:spPr>
          <a:xfrm>
            <a:off x="6355080" y="1874519"/>
            <a:ext cx="5120640" cy="1874520"/>
          </a:xfrm>
          <a:prstGeom prst="rect">
            <a:avLst/>
          </a:prstGeom>
          <a:noFill/>
        </p:spPr>
        <p:txBody>
          <a:bodyPr wrap="square" anchor="t" lIns="45720" rIns="45720">
            <a:spAutoFit/>
          </a:bodyPr>
          <a:lstStyle/>
          <a:p>
            <a:pPr algn="l"/>
            <a:r>
              <a:rPr sz="1700" b="0">
                <a:solidFill>
                  <a:srgbClr val="222B33"/>
                </a:solidFill>
                <a:latin typeface="Calibri"/>
              </a:rPr>
              <a:t>Do several behaviour signals together detect a hypervisor that hides its static indicators better than the best single signal? (A stand-in for a VMBR, a hypervisor-based rootkit.)</a:t>
            </a:r>
          </a:p>
        </p:txBody>
      </p:sp>
      <p:sp>
        <p:nvSpPr>
          <p:cNvPr id="11" name="TextBox 10"/>
          <p:cNvSpPr txBox="1"/>
          <p:nvPr/>
        </p:nvSpPr>
        <p:spPr>
          <a:xfrm>
            <a:off x="548640" y="4114800"/>
            <a:ext cx="11064240" cy="2011680"/>
          </a:xfrm>
          <a:prstGeom prst="rect">
            <a:avLst/>
          </a:prstGeom>
          <a:noFill/>
        </p:spPr>
        <p:txBody>
          <a:bodyPr wrap="square">
            <a:spAutoFit/>
          </a:bodyPr>
          <a:lstStyle/>
          <a:p>
            <a:pPr>
              <a:spcAft>
                <a:spcPts val="900"/>
              </a:spcAft>
            </a:pPr>
            <a:r>
              <a:rPr b="1" sz="1800">
                <a:solidFill>
                  <a:srgbClr val="0B6B74"/>
                </a:solidFill>
                <a:latin typeface="Calibri"/>
              </a:rPr>
              <a:t>Survey </a:t>
            </a:r>
            <a:r>
              <a:rPr sz="1800">
                <a:solidFill>
                  <a:srgbClr val="222B33"/>
                </a:solidFill>
                <a:latin typeface="Calibri"/>
              </a:rPr>
              <a:t>[2020 survey: full citation to be supplied]</a:t>
            </a:r>
          </a:p>
          <a:p>
            <a:pPr>
              <a:spcAft>
                <a:spcPts val="900"/>
              </a:spcAft>
            </a:pPr>
            <a:r>
              <a:rPr b="1" sz="1800">
                <a:solidFill>
                  <a:srgbClr val="0B6B74"/>
                </a:solidFill>
                <a:latin typeface="Calibri"/>
              </a:rPr>
              <a:t>Mapping </a:t>
            </a:r>
            <a:r>
              <a:rPr sz="1800">
                <a:solidFill>
                  <a:srgbClr val="222B33"/>
                </a:solidFill>
                <a:latin typeface="Calibri"/>
              </a:rPr>
              <a:t>31 controls, 9 classes: our own, not survey sections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From survey taxonomy to a result matrix</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3</a:t>
            </a:r>
          </a:p>
        </p:txBody>
      </p:sp>
      <p:sp>
        <p:nvSpPr>
          <p:cNvPr id="5" name="Rounded Rectangle 4"/>
          <p:cNvSpPr/>
          <p:nvPr/>
        </p:nvSpPr>
        <p:spPr>
          <a:xfrm>
            <a:off x="548640" y="1371600"/>
            <a:ext cx="2331720" cy="12801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2057400" cy="411480"/>
          </a:xfrm>
          <a:prstGeom prst="rect">
            <a:avLst/>
          </a:prstGeom>
          <a:noFill/>
        </p:spPr>
        <p:txBody>
          <a:bodyPr wrap="square" anchor="t" lIns="45720" rIns="45720">
            <a:spAutoFit/>
          </a:bodyPr>
          <a:lstStyle/>
          <a:p>
            <a:pPr algn="l"/>
            <a:r>
              <a:rPr sz="1600" b="1">
                <a:solidFill>
                  <a:srgbClr val="0B6B74"/>
                </a:solidFill>
                <a:latin typeface="Calibri"/>
              </a:rPr>
              <a:t>Survey taxonomy</a:t>
            </a:r>
          </a:p>
        </p:txBody>
      </p:sp>
      <p:sp>
        <p:nvSpPr>
          <p:cNvPr id="7" name="TextBox 6"/>
          <p:cNvSpPr txBox="1"/>
          <p:nvPr/>
        </p:nvSpPr>
        <p:spPr>
          <a:xfrm>
            <a:off x="685800" y="1874519"/>
            <a:ext cx="2057400" cy="685799"/>
          </a:xfrm>
          <a:prstGeom prst="rect">
            <a:avLst/>
          </a:prstGeom>
          <a:noFill/>
        </p:spPr>
        <p:txBody>
          <a:bodyPr wrap="square" anchor="t" lIns="45720" rIns="45720">
            <a:spAutoFit/>
          </a:bodyPr>
          <a:lstStyle/>
          <a:p>
            <a:pPr algn="l"/>
            <a:r>
              <a:rPr sz="1500" b="0">
                <a:solidFill>
                  <a:srgbClr val="222B33"/>
                </a:solidFill>
                <a:latin typeface="Calibri"/>
              </a:rPr>
              <a:t>9 classes, 31 controls</a:t>
            </a:r>
          </a:p>
        </p:txBody>
      </p:sp>
      <p:sp>
        <p:nvSpPr>
          <p:cNvPr id="8" name="TextBox 7"/>
          <p:cNvSpPr txBox="1"/>
          <p:nvPr/>
        </p:nvSpPr>
        <p:spPr>
          <a:xfrm>
            <a:off x="2880360" y="1691640"/>
            <a:ext cx="579120" cy="548640"/>
          </a:xfrm>
          <a:prstGeom prst="rect">
            <a:avLst/>
          </a:prstGeom>
          <a:noFill/>
        </p:spPr>
        <p:txBody>
          <a:bodyPr wrap="square" anchor="ctr" lIns="45720" rIns="45720">
            <a:spAutoFit/>
          </a:bodyPr>
          <a:lstStyle/>
          <a:p>
            <a:pPr algn="ctr"/>
            <a:r>
              <a:rPr sz="3000" b="1">
                <a:solidFill>
                  <a:srgbClr val="0B6B74"/>
                </a:solidFill>
                <a:latin typeface="Calibri"/>
              </a:rPr>
              <a:t>→</a:t>
            </a:r>
          </a:p>
        </p:txBody>
      </p:sp>
      <p:sp>
        <p:nvSpPr>
          <p:cNvPr id="9" name="Rounded Rectangle 8"/>
          <p:cNvSpPr/>
          <p:nvPr/>
        </p:nvSpPr>
        <p:spPr>
          <a:xfrm>
            <a:off x="3459480" y="1371600"/>
            <a:ext cx="2331720" cy="12801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96640" y="1463040"/>
            <a:ext cx="2057400" cy="411480"/>
          </a:xfrm>
          <a:prstGeom prst="rect">
            <a:avLst/>
          </a:prstGeom>
          <a:noFill/>
        </p:spPr>
        <p:txBody>
          <a:bodyPr wrap="square" anchor="t" lIns="45720" rIns="45720">
            <a:spAutoFit/>
          </a:bodyPr>
          <a:lstStyle/>
          <a:p>
            <a:pPr algn="l"/>
            <a:r>
              <a:rPr sz="1600" b="1">
                <a:solidFill>
                  <a:srgbClr val="0B6B74"/>
                </a:solidFill>
                <a:latin typeface="Calibri"/>
              </a:rPr>
              <a:t>4 modules</a:t>
            </a:r>
          </a:p>
        </p:txBody>
      </p:sp>
      <p:sp>
        <p:nvSpPr>
          <p:cNvPr id="11" name="TextBox 10"/>
          <p:cNvSpPr txBox="1"/>
          <p:nvPr/>
        </p:nvSpPr>
        <p:spPr>
          <a:xfrm>
            <a:off x="3596640" y="1874519"/>
            <a:ext cx="2057400" cy="685799"/>
          </a:xfrm>
          <a:prstGeom prst="rect">
            <a:avLst/>
          </a:prstGeom>
          <a:noFill/>
        </p:spPr>
        <p:txBody>
          <a:bodyPr wrap="square" anchor="t" lIns="45720" rIns="45720">
            <a:spAutoFit/>
          </a:bodyPr>
          <a:lstStyle/>
          <a:p>
            <a:pPr algn="l"/>
            <a:r>
              <a:rPr sz="1500" b="0">
                <a:solidFill>
                  <a:srgbClr val="222B33"/>
                </a:solidFill>
                <a:latin typeface="Calibri"/>
              </a:rPr>
              <a:t>M1 to M4</a:t>
            </a:r>
          </a:p>
        </p:txBody>
      </p:sp>
      <p:sp>
        <p:nvSpPr>
          <p:cNvPr id="12" name="TextBox 11"/>
          <p:cNvSpPr txBox="1"/>
          <p:nvPr/>
        </p:nvSpPr>
        <p:spPr>
          <a:xfrm>
            <a:off x="5791200" y="1691640"/>
            <a:ext cx="579120" cy="548640"/>
          </a:xfrm>
          <a:prstGeom prst="rect">
            <a:avLst/>
          </a:prstGeom>
          <a:noFill/>
        </p:spPr>
        <p:txBody>
          <a:bodyPr wrap="square" anchor="ctr" lIns="45720" rIns="45720">
            <a:spAutoFit/>
          </a:bodyPr>
          <a:lstStyle/>
          <a:p>
            <a:pPr algn="ctr"/>
            <a:r>
              <a:rPr sz="3000" b="1">
                <a:solidFill>
                  <a:srgbClr val="0B6B74"/>
                </a:solidFill>
                <a:latin typeface="Calibri"/>
              </a:rPr>
              <a:t>→</a:t>
            </a:r>
          </a:p>
        </p:txBody>
      </p:sp>
      <p:sp>
        <p:nvSpPr>
          <p:cNvPr id="13" name="Rounded Rectangle 12"/>
          <p:cNvSpPr/>
          <p:nvPr/>
        </p:nvSpPr>
        <p:spPr>
          <a:xfrm>
            <a:off x="6370319" y="1371600"/>
            <a:ext cx="2331720" cy="12801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07480" y="1463040"/>
            <a:ext cx="2057400" cy="411480"/>
          </a:xfrm>
          <a:prstGeom prst="rect">
            <a:avLst/>
          </a:prstGeom>
          <a:noFill/>
        </p:spPr>
        <p:txBody>
          <a:bodyPr wrap="square" anchor="t" lIns="45720" rIns="45720">
            <a:spAutoFit/>
          </a:bodyPr>
          <a:lstStyle/>
          <a:p>
            <a:pPr algn="l"/>
            <a:r>
              <a:rPr sz="1600" b="1">
                <a:solidFill>
                  <a:srgbClr val="0B6B74"/>
                </a:solidFill>
                <a:latin typeface="Calibri"/>
              </a:rPr>
              <a:t>One finding format</a:t>
            </a:r>
          </a:p>
        </p:txBody>
      </p:sp>
      <p:sp>
        <p:nvSpPr>
          <p:cNvPr id="15" name="TextBox 14"/>
          <p:cNvSpPr txBox="1"/>
          <p:nvPr/>
        </p:nvSpPr>
        <p:spPr>
          <a:xfrm>
            <a:off x="6507480" y="1874519"/>
            <a:ext cx="2057400" cy="685799"/>
          </a:xfrm>
          <a:prstGeom prst="rect">
            <a:avLst/>
          </a:prstGeom>
          <a:noFill/>
        </p:spPr>
        <p:txBody>
          <a:bodyPr wrap="square" anchor="t" lIns="45720" rIns="45720">
            <a:spAutoFit/>
          </a:bodyPr>
          <a:lstStyle/>
          <a:p>
            <a:pPr algn="l"/>
            <a:r>
              <a:rPr sz="1500" b="0">
                <a:solidFill>
                  <a:srgbClr val="222B33"/>
                </a:solidFill>
                <a:latin typeface="Calibri"/>
              </a:rPr>
              <a:t>PASS, FAIL or NA</a:t>
            </a:r>
          </a:p>
        </p:txBody>
      </p:sp>
      <p:sp>
        <p:nvSpPr>
          <p:cNvPr id="16" name="TextBox 15"/>
          <p:cNvSpPr txBox="1"/>
          <p:nvPr/>
        </p:nvSpPr>
        <p:spPr>
          <a:xfrm>
            <a:off x="8702040" y="1691640"/>
            <a:ext cx="579120" cy="548640"/>
          </a:xfrm>
          <a:prstGeom prst="rect">
            <a:avLst/>
          </a:prstGeom>
          <a:noFill/>
        </p:spPr>
        <p:txBody>
          <a:bodyPr wrap="square" anchor="ctr" lIns="45720" rIns="45720">
            <a:spAutoFit/>
          </a:bodyPr>
          <a:lstStyle/>
          <a:p>
            <a:pPr algn="ctr"/>
            <a:r>
              <a:rPr sz="3000" b="1">
                <a:solidFill>
                  <a:srgbClr val="0B6B74"/>
                </a:solidFill>
                <a:latin typeface="Calibri"/>
              </a:rPr>
              <a:t>→</a:t>
            </a:r>
          </a:p>
        </p:txBody>
      </p:sp>
      <p:sp>
        <p:nvSpPr>
          <p:cNvPr id="17" name="Rounded Rectangle 16"/>
          <p:cNvSpPr/>
          <p:nvPr/>
        </p:nvSpPr>
        <p:spPr>
          <a:xfrm>
            <a:off x="9281159" y="1371600"/>
            <a:ext cx="2331720" cy="12801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18319" y="1463040"/>
            <a:ext cx="2057400" cy="411480"/>
          </a:xfrm>
          <a:prstGeom prst="rect">
            <a:avLst/>
          </a:prstGeom>
          <a:noFill/>
        </p:spPr>
        <p:txBody>
          <a:bodyPr wrap="square" anchor="t" lIns="45720" rIns="45720">
            <a:spAutoFit/>
          </a:bodyPr>
          <a:lstStyle/>
          <a:p>
            <a:pPr algn="l"/>
            <a:r>
              <a:rPr sz="1600" b="1">
                <a:solidFill>
                  <a:srgbClr val="0B6B74"/>
                </a:solidFill>
                <a:latin typeface="Calibri"/>
              </a:rPr>
              <a:t>Result matrix</a:t>
            </a:r>
          </a:p>
        </p:txBody>
      </p:sp>
      <p:sp>
        <p:nvSpPr>
          <p:cNvPr id="19" name="TextBox 18"/>
          <p:cNvSpPr txBox="1"/>
          <p:nvPr/>
        </p:nvSpPr>
        <p:spPr>
          <a:xfrm>
            <a:off x="9418319" y="1874519"/>
            <a:ext cx="2057400" cy="685799"/>
          </a:xfrm>
          <a:prstGeom prst="rect">
            <a:avLst/>
          </a:prstGeom>
          <a:noFill/>
        </p:spPr>
        <p:txBody>
          <a:bodyPr wrap="square" anchor="t" lIns="45720" rIns="45720">
            <a:spAutoFit/>
          </a:bodyPr>
          <a:lstStyle/>
          <a:p>
            <a:pPr algn="l"/>
            <a:r>
              <a:rPr sz="1500" b="0">
                <a:solidFill>
                  <a:srgbClr val="222B33"/>
                </a:solidFill>
                <a:latin typeface="Calibri"/>
              </a:rPr>
              <a:t>one row per VM</a:t>
            </a:r>
          </a:p>
        </p:txBody>
      </p:sp>
      <p:sp>
        <p:nvSpPr>
          <p:cNvPr id="20" name="Rounded Rectangle 19"/>
          <p:cNvSpPr/>
          <p:nvPr/>
        </p:nvSpPr>
        <p:spPr>
          <a:xfrm>
            <a:off x="548640" y="3017520"/>
            <a:ext cx="11064240" cy="3108960"/>
          </a:xfrm>
          <a:prstGeom prst="roundRect">
            <a:avLst>
              <a:gd name="adj" fmla="val 6000"/>
            </a:avLst>
          </a:prstGeom>
          <a:solidFill>
            <a:srgbClr val="FDEEEE"/>
          </a:solidFill>
          <a:ln w="19050">
            <a:solidFill>
              <a:srgbClr val="A61E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08960"/>
            <a:ext cx="10698480" cy="457200"/>
          </a:xfrm>
          <a:prstGeom prst="rect">
            <a:avLst/>
          </a:prstGeom>
          <a:noFill/>
        </p:spPr>
        <p:txBody>
          <a:bodyPr wrap="square" anchor="t" lIns="45720" rIns="45720">
            <a:spAutoFit/>
          </a:bodyPr>
          <a:lstStyle/>
          <a:p>
            <a:pPr algn="l"/>
            <a:r>
              <a:rPr sz="2000" b="1">
                <a:solidFill>
                  <a:srgbClr val="A61E1E"/>
                </a:solidFill>
                <a:latin typeface="Calibri"/>
              </a:rPr>
              <a:t>Honesty rules</a:t>
            </a:r>
          </a:p>
        </p:txBody>
      </p:sp>
      <p:sp>
        <p:nvSpPr>
          <p:cNvPr id="22" name="TextBox 21"/>
          <p:cNvSpPr txBox="1"/>
          <p:nvPr/>
        </p:nvSpPr>
        <p:spPr>
          <a:xfrm>
            <a:off x="731520" y="3657600"/>
            <a:ext cx="10698480" cy="2377440"/>
          </a:xfrm>
          <a:prstGeom prst="rect">
            <a:avLst/>
          </a:prstGeom>
          <a:noFill/>
        </p:spPr>
        <p:txBody>
          <a:bodyPr wrap="square">
            <a:spAutoFit/>
          </a:bodyPr>
          <a:lstStyle/>
          <a:p>
            <a:pPr>
              <a:spcAft>
                <a:spcPts val="900"/>
              </a:spcAft>
            </a:pPr>
            <a:r>
              <a:rPr b="1" sz="1800">
                <a:solidFill>
                  <a:srgbClr val="0B6B74"/>
                </a:solidFill>
                <a:latin typeface="Calibri"/>
              </a:rPr>
              <a:t>PASS </a:t>
            </a:r>
            <a:r>
              <a:rPr sz="1800">
                <a:solidFill>
                  <a:srgbClr val="222B33"/>
                </a:solidFill>
                <a:latin typeface="Calibri"/>
              </a:rPr>
              <a:t>passed its defined test; it does not mean 'secure'</a:t>
            </a:r>
          </a:p>
          <a:p>
            <a:pPr>
              <a:spcAft>
                <a:spcPts val="900"/>
              </a:spcAft>
            </a:pPr>
            <a:r>
              <a:rPr b="1" sz="1800">
                <a:solidFill>
                  <a:srgbClr val="0B6B74"/>
                </a:solidFill>
                <a:latin typeface="Calibri"/>
              </a:rPr>
              <a:t>NA </a:t>
            </a:r>
            <a:r>
              <a:rPr sz="1800">
                <a:solidFill>
                  <a:srgbClr val="222B33"/>
                </a:solidFill>
                <a:latin typeface="Calibri"/>
              </a:rPr>
              <a:t>never counted as PASS; on a seeded fault it is a miss</a:t>
            </a:r>
          </a:p>
          <a:p>
            <a:pPr>
              <a:spcAft>
                <a:spcPts val="900"/>
              </a:spcAft>
            </a:pPr>
            <a:r>
              <a:rPr b="1" sz="1800">
                <a:solidFill>
                  <a:srgbClr val="0B6B74"/>
                </a:solidFill>
                <a:latin typeface="Calibri"/>
              </a:rPr>
              <a:t>Simulated data </a:t>
            </a:r>
            <a:r>
              <a:rPr sz="1800">
                <a:solidFill>
                  <a:srgbClr val="222B33"/>
                </a:solidFill>
                <a:latin typeface="Calibri"/>
              </a:rPr>
              <a:t>never a result</a:t>
            </a:r>
          </a:p>
          <a:p>
            <a:pPr>
              <a:spcAft>
                <a:spcPts val="900"/>
              </a:spcAft>
            </a:pPr>
            <a:r>
              <a:rPr b="1" sz="1800">
                <a:solidFill>
                  <a:srgbClr val="0B6B74"/>
                </a:solidFill>
                <a:latin typeface="Calibri"/>
              </a:rPr>
              <a:t>M1 fixtures </a:t>
            </a:r>
            <a:r>
              <a:rPr sz="1800">
                <a:solidFill>
                  <a:srgbClr val="222B33"/>
                </a:solidFill>
                <a:latin typeface="Calibri"/>
              </a:rPr>
              <a:t>self-consistency only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Taxonomy to modules: what is actually tested</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4</a:t>
            </a:r>
          </a:p>
        </p:txBody>
      </p:sp>
      <p:graphicFrame>
        <p:nvGraphicFramePr>
          <p:cNvPr id="5" name="Table 4"/>
          <p:cNvGraphicFramePr>
            <a:graphicFrameLocks noGrp="1"/>
          </p:cNvGraphicFramePr>
          <p:nvPr/>
        </p:nvGraphicFramePr>
        <p:xfrm>
          <a:off x="548640" y="1280160"/>
          <a:ext cx="11064240" cy="4206240"/>
        </p:xfrm>
        <a:graphic>
          <a:graphicData uri="http://schemas.openxmlformats.org/drawingml/2006/table">
            <a:tbl>
              <a:tblPr firstRow="1" bandRow="1">
                <a:tableStyleId>{5C22544A-7EE6-4342-B048-85BDC9FD1C3A}</a:tableStyleId>
              </a:tblPr>
              <a:tblGrid>
                <a:gridCol w="4206240"/>
                <a:gridCol w="2377440"/>
                <a:gridCol w="2743200"/>
                <a:gridCol w="1737360"/>
              </a:tblGrid>
              <a:tr h="420624">
                <a:tc>
                  <a:txBody>
                    <a:bodyPr wrap="square"/>
                    <a:lstStyle/>
                    <a:p>
                      <a:r>
                        <a:rPr sz="1400" b="1">
                          <a:solidFill>
                            <a:srgbClr val="FFFFFF"/>
                          </a:solidFill>
                          <a:latin typeface="Calibri"/>
                        </a:rPr>
                        <a:t>Threat class</a:t>
                      </a:r>
                    </a:p>
                  </a:txBody>
                  <a:tcPr marL="73152" marR="73152" marT="27432" marB="27432" anchor="ctr">
                    <a:solidFill>
                      <a:srgbClr val="142B3F"/>
                    </a:solidFill>
                  </a:tcPr>
                </a:tc>
                <a:tc>
                  <a:txBody>
                    <a:bodyPr wrap="square"/>
                    <a:lstStyle/>
                    <a:p>
                      <a:r>
                        <a:rPr sz="1400" b="1">
                          <a:solidFill>
                            <a:srgbClr val="FFFFFF"/>
                          </a:solidFill>
                          <a:latin typeface="Calibri"/>
                        </a:rPr>
                        <a:t>Label</a:t>
                      </a:r>
                    </a:p>
                  </a:txBody>
                  <a:tcPr marL="73152" marR="73152" marT="27432" marB="27432" anchor="ctr">
                    <a:solidFill>
                      <a:srgbClr val="142B3F"/>
                    </a:solidFill>
                  </a:tcPr>
                </a:tc>
                <a:tc>
                  <a:txBody>
                    <a:bodyPr wrap="square"/>
                    <a:lstStyle/>
                    <a:p>
                      <a:r>
                        <a:rPr sz="1400" b="1">
                          <a:solidFill>
                            <a:srgbClr val="FFFFFF"/>
                          </a:solidFill>
                          <a:latin typeface="Calibri"/>
                        </a:rPr>
                        <a:t>Module</a:t>
                      </a:r>
                    </a:p>
                  </a:txBody>
                  <a:tcPr marL="73152" marR="73152" marT="27432" marB="27432" anchor="ctr">
                    <a:solidFill>
                      <a:srgbClr val="142B3F"/>
                    </a:solidFill>
                  </a:tcPr>
                </a:tc>
                <a:tc>
                  <a:txBody>
                    <a:bodyPr wrap="square"/>
                    <a:lstStyle/>
                    <a:p>
                      <a:r>
                        <a:rPr sz="1400" b="1">
                          <a:solidFill>
                            <a:srgbClr val="FFFFFF"/>
                          </a:solidFill>
                          <a:latin typeface="Calibri"/>
                        </a:rPr>
                        <a:t>Controls</a:t>
                      </a:r>
                    </a:p>
                  </a:txBody>
                  <a:tcPr marL="73152" marR="73152" marT="27432" marB="27432" anchor="ctr">
                    <a:solidFill>
                      <a:srgbClr val="142B3F"/>
                    </a:solidFill>
                  </a:tcPr>
                </a:tc>
              </a:tr>
              <a:tr h="420624">
                <a:tc>
                  <a:txBody>
                    <a:bodyPr wrap="square"/>
                    <a:lstStyle/>
                    <a:p>
                      <a:r>
                        <a:rPr sz="1400" b="0">
                          <a:solidFill>
                            <a:srgbClr val="222B33"/>
                          </a:solidFill>
                          <a:latin typeface="Calibri"/>
                        </a:rPr>
                        <a:t>Guest-&gt;Host</a:t>
                      </a:r>
                    </a:p>
                  </a:txBody>
                  <a:tcPr marL="73152" marR="73152" marT="27432" marB="27432" anchor="ctr">
                    <a:solidFill>
                      <a:srgbClr val="EAF3F4"/>
                    </a:solidFill>
                  </a:tcPr>
                </a:tc>
                <a:tc>
                  <a:txBody>
                    <a:bodyPr wrap="square"/>
                    <a:lstStyle/>
                    <a:p>
                      <a:r>
                        <a:rPr sz="1400" b="0">
                          <a:solidFill>
                            <a:srgbClr val="222B33"/>
                          </a:solidFill>
                          <a:latin typeface="Calibri"/>
                        </a:rPr>
                        <a:t>Tested</a:t>
                      </a:r>
                    </a:p>
                  </a:txBody>
                  <a:tcPr marL="73152" marR="73152" marT="27432" marB="27432" anchor="ctr">
                    <a:solidFill>
                      <a:srgbClr val="EAF3F4"/>
                    </a:solidFill>
                  </a:tcPr>
                </a:tc>
                <a:tc>
                  <a:txBody>
                    <a:bodyPr wrap="square"/>
                    <a:lstStyle/>
                    <a:p>
                      <a:r>
                        <a:rPr sz="1400" b="0">
                          <a:solidFill>
                            <a:srgbClr val="222B33"/>
                          </a:solidFill>
                          <a:latin typeface="Calibri"/>
                        </a:rPr>
                        <a:t>M1</a:t>
                      </a:r>
                    </a:p>
                  </a:txBody>
                  <a:tcPr marL="73152" marR="73152" marT="27432" marB="27432" anchor="ctr">
                    <a:solidFill>
                      <a:srgbClr val="EAF3F4"/>
                    </a:solidFill>
                  </a:tcPr>
                </a:tc>
                <a:tc>
                  <a:txBody>
                    <a:bodyPr wrap="square"/>
                    <a:lstStyle/>
                    <a:p>
                      <a:r>
                        <a:rPr sz="1400" b="0">
                          <a:solidFill>
                            <a:srgbClr val="222B33"/>
                          </a:solidFill>
                          <a:latin typeface="Calibri"/>
                        </a:rPr>
                        <a:t>12</a:t>
                      </a:r>
                    </a:p>
                  </a:txBody>
                  <a:tcPr marL="73152" marR="73152" marT="27432" marB="27432" anchor="ctr">
                    <a:solidFill>
                      <a:srgbClr val="EAF3F4"/>
                    </a:solidFill>
                  </a:tcPr>
                </a:tc>
              </a:tr>
              <a:tr h="420624">
                <a:tc>
                  <a:txBody>
                    <a:bodyPr wrap="square"/>
                    <a:lstStyle/>
                    <a:p>
                      <a:r>
                        <a:rPr sz="1400" b="0">
                          <a:solidFill>
                            <a:srgbClr val="222B33"/>
                          </a:solidFill>
                          <a:latin typeface="Calibri"/>
                        </a:rPr>
                        <a:t>Host-&gt;VMM</a:t>
                      </a:r>
                    </a:p>
                  </a:txBody>
                  <a:tcPr marL="73152" marR="73152" marT="27432" marB="27432" anchor="ctr">
                    <a:solidFill>
                      <a:srgbClr val="FFFFFF"/>
                    </a:solidFill>
                  </a:tcPr>
                </a:tc>
                <a:tc>
                  <a:txBody>
                    <a:bodyPr wrap="square"/>
                    <a:lstStyle/>
                    <a:p>
                      <a:r>
                        <a:rPr sz="1400" b="0">
                          <a:solidFill>
                            <a:srgbClr val="222B33"/>
                          </a:solidFill>
                          <a:latin typeface="Calibri"/>
                        </a:rPr>
                        <a:t>Config-proxy</a:t>
                      </a:r>
                    </a:p>
                  </a:txBody>
                  <a:tcPr marL="73152" marR="73152" marT="27432" marB="27432" anchor="ctr">
                    <a:solidFill>
                      <a:srgbClr val="FFFFFF"/>
                    </a:solidFill>
                  </a:tcPr>
                </a:tc>
                <a:tc>
                  <a:txBody>
                    <a:bodyPr wrap="square"/>
                    <a:lstStyle/>
                    <a:p>
                      <a:r>
                        <a:rPr sz="1400" b="0">
                          <a:solidFill>
                            <a:srgbClr val="222B33"/>
                          </a:solidFill>
                          <a:latin typeface="Calibri"/>
                        </a:rPr>
                        <a:t>M1</a:t>
                      </a:r>
                    </a:p>
                  </a:txBody>
                  <a:tcPr marL="73152" marR="73152" marT="27432" marB="27432" anchor="ctr">
                    <a:solidFill>
                      <a:srgbClr val="FFFFFF"/>
                    </a:solidFill>
                  </a:tcPr>
                </a:tc>
                <a:tc>
                  <a:txBody>
                    <a:bodyPr wrap="square"/>
                    <a:lstStyle/>
                    <a:p>
                      <a:r>
                        <a:rPr sz="1400" b="0">
                          <a:solidFill>
                            <a:srgbClr val="222B33"/>
                          </a:solidFill>
                          <a:latin typeface="Calibri"/>
                        </a:rPr>
                        <a:t>6</a:t>
                      </a:r>
                    </a:p>
                  </a:txBody>
                  <a:tcPr marL="73152" marR="73152" marT="27432" marB="27432" anchor="ctr">
                    <a:solidFill>
                      <a:srgbClr val="FFFFFF"/>
                    </a:solidFill>
                  </a:tcPr>
                </a:tc>
              </a:tr>
              <a:tr h="420624">
                <a:tc>
                  <a:txBody>
                    <a:bodyPr wrap="square"/>
                    <a:lstStyle/>
                    <a:p>
                      <a:r>
                        <a:rPr sz="1400" b="0">
                          <a:solidFill>
                            <a:srgbClr val="222B33"/>
                          </a:solidFill>
                          <a:latin typeface="Calibri"/>
                        </a:rPr>
                        <a:t>Guest-&gt;Guest</a:t>
                      </a:r>
                    </a:p>
                  </a:txBody>
                  <a:tcPr marL="73152" marR="73152" marT="27432" marB="27432" anchor="ctr">
                    <a:solidFill>
                      <a:srgbClr val="EAF3F4"/>
                    </a:solidFill>
                  </a:tcPr>
                </a:tc>
                <a:tc>
                  <a:txBody>
                    <a:bodyPr wrap="square"/>
                    <a:lstStyle/>
                    <a:p>
                      <a:r>
                        <a:rPr sz="1400" b="0">
                          <a:solidFill>
                            <a:srgbClr val="222B33"/>
                          </a:solidFill>
                          <a:latin typeface="Calibri"/>
                        </a:rPr>
                        <a:t>Config-proxy</a:t>
                      </a:r>
                    </a:p>
                  </a:txBody>
                  <a:tcPr marL="73152" marR="73152" marT="27432" marB="27432" anchor="ctr">
                    <a:solidFill>
                      <a:srgbClr val="EAF3F4"/>
                    </a:solidFill>
                  </a:tcPr>
                </a:tc>
                <a:tc>
                  <a:txBody>
                    <a:bodyPr wrap="square"/>
                    <a:lstStyle/>
                    <a:p>
                      <a:r>
                        <a:rPr sz="1400" b="0">
                          <a:solidFill>
                            <a:srgbClr val="222B33"/>
                          </a:solidFill>
                          <a:latin typeface="Calibri"/>
                        </a:rPr>
                        <a:t>M1</a:t>
                      </a:r>
                    </a:p>
                  </a:txBody>
                  <a:tcPr marL="73152" marR="73152" marT="27432" marB="27432" anchor="ctr">
                    <a:solidFill>
                      <a:srgbClr val="EAF3F4"/>
                    </a:solidFill>
                  </a:tcPr>
                </a:tc>
                <a:tc>
                  <a:txBody>
                    <a:bodyPr wrap="square"/>
                    <a:lstStyle/>
                    <a:p>
                      <a:r>
                        <a:rPr sz="1400" b="0">
                          <a:solidFill>
                            <a:srgbClr val="222B33"/>
                          </a:solidFill>
                          <a:latin typeface="Calibri"/>
                        </a:rPr>
                        <a:t>3</a:t>
                      </a:r>
                    </a:p>
                  </a:txBody>
                  <a:tcPr marL="73152" marR="73152" marT="27432" marB="27432" anchor="ctr">
                    <a:solidFill>
                      <a:srgbClr val="EAF3F4"/>
                    </a:solidFill>
                  </a:tcPr>
                </a:tc>
              </a:tr>
              <a:tr h="420624">
                <a:tc>
                  <a:txBody>
                    <a:bodyPr wrap="square"/>
                    <a:lstStyle/>
                    <a:p>
                      <a:r>
                        <a:rPr sz="1400" b="0">
                          <a:solidFill>
                            <a:srgbClr val="222B33"/>
                          </a:solidFill>
                          <a:latin typeface="Calibri"/>
                        </a:rPr>
                        <a:t>VMM vulnerabilities</a:t>
                      </a:r>
                    </a:p>
                  </a:txBody>
                  <a:tcPr marL="73152" marR="73152" marT="27432" marB="27432" anchor="ctr">
                    <a:solidFill>
                      <a:srgbClr val="FFFFFF"/>
                    </a:solidFill>
                  </a:tcPr>
                </a:tc>
                <a:tc>
                  <a:txBody>
                    <a:bodyPr wrap="square"/>
                    <a:lstStyle/>
                    <a:p>
                      <a:r>
                        <a:rPr sz="1400" b="0">
                          <a:solidFill>
                            <a:srgbClr val="222B33"/>
                          </a:solidFill>
                          <a:latin typeface="Calibri"/>
                        </a:rPr>
                        <a:t>Config-proxy</a:t>
                      </a:r>
                    </a:p>
                  </a:txBody>
                  <a:tcPr marL="73152" marR="73152" marT="27432" marB="27432" anchor="ctr">
                    <a:solidFill>
                      <a:srgbClr val="FFFFFF"/>
                    </a:solidFill>
                  </a:tcPr>
                </a:tc>
                <a:tc>
                  <a:txBody>
                    <a:bodyPr wrap="square"/>
                    <a:lstStyle/>
                    <a:p>
                      <a:r>
                        <a:rPr sz="1400" b="0">
                          <a:solidFill>
                            <a:srgbClr val="222B33"/>
                          </a:solidFill>
                          <a:latin typeface="Calibri"/>
                        </a:rPr>
                        <a:t>M1</a:t>
                      </a:r>
                    </a:p>
                  </a:txBody>
                  <a:tcPr marL="73152" marR="73152" marT="27432" marB="27432" anchor="ctr">
                    <a:solidFill>
                      <a:srgbClr val="FFFFFF"/>
                    </a:solidFill>
                  </a:tcPr>
                </a:tc>
                <a:tc>
                  <a:txBody>
                    <a:bodyPr wrap="square"/>
                    <a:lstStyle/>
                    <a:p>
                      <a:r>
                        <a:rPr sz="1400" b="0">
                          <a:solidFill>
                            <a:srgbClr val="222B33"/>
                          </a:solidFill>
                          <a:latin typeface="Calibri"/>
                        </a:rPr>
                        <a:t>2</a:t>
                      </a:r>
                    </a:p>
                  </a:txBody>
                  <a:tcPr marL="73152" marR="73152" marT="27432" marB="27432" anchor="ctr">
                    <a:solidFill>
                      <a:srgbClr val="FFFFFF"/>
                    </a:solidFill>
                  </a:tcPr>
                </a:tc>
              </a:tr>
              <a:tr h="420624">
                <a:tc>
                  <a:txBody>
                    <a:bodyPr wrap="square"/>
                    <a:lstStyle/>
                    <a:p>
                      <a:r>
                        <a:rPr sz="1400" b="0">
                          <a:solidFill>
                            <a:srgbClr val="222B33"/>
                          </a:solidFill>
                          <a:latin typeface="Calibri"/>
                        </a:rPr>
                        <a:t>Side channels</a:t>
                      </a:r>
                    </a:p>
                  </a:txBody>
                  <a:tcPr marL="73152" marR="73152" marT="27432" marB="27432" anchor="ctr">
                    <a:solidFill>
                      <a:srgbClr val="EAF3F4"/>
                    </a:solidFill>
                  </a:tcPr>
                </a:tc>
                <a:tc>
                  <a:txBody>
                    <a:bodyPr wrap="square"/>
                    <a:lstStyle/>
                    <a:p>
                      <a:r>
                        <a:rPr sz="1400" b="0">
                          <a:solidFill>
                            <a:srgbClr val="222B33"/>
                          </a:solidFill>
                          <a:latin typeface="Calibri"/>
                        </a:rPr>
                        <a:t>Config-proxy</a:t>
                      </a:r>
                    </a:p>
                  </a:txBody>
                  <a:tcPr marL="73152" marR="73152" marT="27432" marB="27432" anchor="ctr">
                    <a:solidFill>
                      <a:srgbClr val="EAF3F4"/>
                    </a:solidFill>
                  </a:tcPr>
                </a:tc>
                <a:tc>
                  <a:txBody>
                    <a:bodyPr wrap="square"/>
                    <a:lstStyle/>
                    <a:p>
                      <a:r>
                        <a:rPr sz="1400" b="0">
                          <a:solidFill>
                            <a:srgbClr val="222B33"/>
                          </a:solidFill>
                          <a:latin typeface="Calibri"/>
                        </a:rPr>
                        <a:t>M1</a:t>
                      </a:r>
                    </a:p>
                  </a:txBody>
                  <a:tcPr marL="73152" marR="73152" marT="27432" marB="27432" anchor="ctr">
                    <a:solidFill>
                      <a:srgbClr val="EAF3F4"/>
                    </a:solidFill>
                  </a:tcPr>
                </a:tc>
                <a:tc>
                  <a:txBody>
                    <a:bodyPr wrap="square"/>
                    <a:lstStyle/>
                    <a:p>
                      <a:r>
                        <a:rPr sz="1400" b="0">
                          <a:solidFill>
                            <a:srgbClr val="222B33"/>
                          </a:solidFill>
                          <a:latin typeface="Calibri"/>
                        </a:rPr>
                        <a:t>3</a:t>
                      </a:r>
                    </a:p>
                  </a:txBody>
                  <a:tcPr marL="73152" marR="73152" marT="27432" marB="27432" anchor="ctr">
                    <a:solidFill>
                      <a:srgbClr val="EAF3F4"/>
                    </a:solidFill>
                  </a:tcPr>
                </a:tc>
              </a:tr>
              <a:tr h="420624">
                <a:tc>
                  <a:txBody>
                    <a:bodyPr wrap="square"/>
                    <a:lstStyle/>
                    <a:p>
                      <a:r>
                        <a:rPr sz="1400" b="0">
                          <a:solidFill>
                            <a:srgbClr val="222B33"/>
                          </a:solidFill>
                          <a:latin typeface="Calibri"/>
                        </a:rPr>
                        <a:t>DMA/IOMMU</a:t>
                      </a:r>
                    </a:p>
                  </a:txBody>
                  <a:tcPr marL="73152" marR="73152" marT="27432" marB="27432" anchor="ctr">
                    <a:solidFill>
                      <a:srgbClr val="FFFFFF"/>
                    </a:solidFill>
                  </a:tcPr>
                </a:tc>
                <a:tc>
                  <a:txBody>
                    <a:bodyPr wrap="square"/>
                    <a:lstStyle/>
                    <a:p>
                      <a:r>
                        <a:rPr sz="1400" b="0">
                          <a:solidFill>
                            <a:srgbClr val="222B33"/>
                          </a:solidFill>
                          <a:latin typeface="Calibri"/>
                        </a:rPr>
                        <a:t>Tested on E1</a:t>
                      </a:r>
                    </a:p>
                  </a:txBody>
                  <a:tcPr marL="73152" marR="73152" marT="27432" marB="27432" anchor="ctr">
                    <a:solidFill>
                      <a:srgbClr val="FFFFFF"/>
                    </a:solidFill>
                  </a:tcPr>
                </a:tc>
                <a:tc>
                  <a:txBody>
                    <a:bodyPr wrap="square"/>
                    <a:lstStyle/>
                    <a:p>
                      <a:r>
                        <a:rPr sz="1400" b="0">
                          <a:solidFill>
                            <a:srgbClr val="222B33"/>
                          </a:solidFill>
                          <a:latin typeface="Calibri"/>
                        </a:rPr>
                        <a:t>M1</a:t>
                      </a:r>
                    </a:p>
                  </a:txBody>
                  <a:tcPr marL="73152" marR="73152" marT="27432" marB="27432" anchor="ctr">
                    <a:solidFill>
                      <a:srgbClr val="FFFFFF"/>
                    </a:solidFill>
                  </a:tcPr>
                </a:tc>
                <a:tc>
                  <a:txBody>
                    <a:bodyPr wrap="square"/>
                    <a:lstStyle/>
                    <a:p>
                      <a:r>
                        <a:rPr sz="1400" b="0">
                          <a:solidFill>
                            <a:srgbClr val="222B33"/>
                          </a:solidFill>
                          <a:latin typeface="Calibri"/>
                        </a:rPr>
                        <a:t>2</a:t>
                      </a:r>
                    </a:p>
                  </a:txBody>
                  <a:tcPr marL="73152" marR="73152" marT="27432" marB="27432" anchor="ctr">
                    <a:solidFill>
                      <a:srgbClr val="FFFFFF"/>
                    </a:solidFill>
                  </a:tcPr>
                </a:tc>
              </a:tr>
              <a:tr h="420624">
                <a:tc>
                  <a:txBody>
                    <a:bodyPr wrap="square"/>
                    <a:lstStyle/>
                    <a:p>
                      <a:r>
                        <a:rPr sz="1400" b="0">
                          <a:solidFill>
                            <a:srgbClr val="222B33"/>
                          </a:solidFill>
                          <a:latin typeface="Calibri"/>
                        </a:rPr>
                        <a:t>Snapshot privacy</a:t>
                      </a:r>
                    </a:p>
                  </a:txBody>
                  <a:tcPr marL="73152" marR="73152" marT="27432" marB="27432" anchor="ctr">
                    <a:solidFill>
                      <a:srgbClr val="EAF3F4"/>
                    </a:solidFill>
                  </a:tcPr>
                </a:tc>
                <a:tc>
                  <a:txBody>
                    <a:bodyPr wrap="square"/>
                    <a:lstStyle/>
                    <a:p>
                      <a:r>
                        <a:rPr sz="1400" b="0">
                          <a:solidFill>
                            <a:srgbClr val="222B33"/>
                          </a:solidFill>
                          <a:latin typeface="Calibri"/>
                        </a:rPr>
                        <a:t>Tested</a:t>
                      </a:r>
                    </a:p>
                  </a:txBody>
                  <a:tcPr marL="73152" marR="73152" marT="27432" marB="27432" anchor="ctr">
                    <a:solidFill>
                      <a:srgbClr val="EAF3F4"/>
                    </a:solidFill>
                  </a:tcPr>
                </a:tc>
                <a:tc>
                  <a:txBody>
                    <a:bodyPr wrap="square"/>
                    <a:lstStyle/>
                    <a:p>
                      <a:r>
                        <a:rPr sz="1400" b="0">
                          <a:solidFill>
                            <a:srgbClr val="222B33"/>
                          </a:solidFill>
                          <a:latin typeface="Calibri"/>
                        </a:rPr>
                        <a:t>M2</a:t>
                      </a:r>
                    </a:p>
                  </a:txBody>
                  <a:tcPr marL="73152" marR="73152" marT="27432" marB="27432" anchor="ctr">
                    <a:solidFill>
                      <a:srgbClr val="EAF3F4"/>
                    </a:solidFill>
                  </a:tcPr>
                </a:tc>
                <a:tc>
                  <a:txBody>
                    <a:bodyPr wrap="square"/>
                    <a:lstStyle/>
                    <a:p>
                      <a:r>
                        <a:rPr sz="1400" b="0">
                          <a:solidFill>
                            <a:srgbClr val="222B33"/>
                          </a:solidFill>
                          <a:latin typeface="Calibri"/>
                        </a:rPr>
                        <a:t>1</a:t>
                      </a:r>
                    </a:p>
                  </a:txBody>
                  <a:tcPr marL="73152" marR="73152" marT="27432" marB="27432" anchor="ctr">
                    <a:solidFill>
                      <a:srgbClr val="EAF3F4"/>
                    </a:solidFill>
                  </a:tcPr>
                </a:tc>
              </a:tr>
              <a:tr h="420624">
                <a:tc>
                  <a:txBody>
                    <a:bodyPr wrap="square"/>
                    <a:lstStyle/>
                    <a:p>
                      <a:r>
                        <a:rPr sz="1400" b="0">
                          <a:solidFill>
                            <a:srgbClr val="222B33"/>
                          </a:solidFill>
                          <a:latin typeface="Calibri"/>
                        </a:rPr>
                        <a:t>VMI / hidden processes</a:t>
                      </a:r>
                    </a:p>
                  </a:txBody>
                  <a:tcPr marL="73152" marR="73152" marT="27432" marB="27432" anchor="ctr">
                    <a:solidFill>
                      <a:srgbClr val="FFFFFF"/>
                    </a:solidFill>
                  </a:tcPr>
                </a:tc>
                <a:tc>
                  <a:txBody>
                    <a:bodyPr wrap="square"/>
                    <a:lstStyle/>
                    <a:p>
                      <a:r>
                        <a:rPr sz="1400" b="0">
                          <a:solidFill>
                            <a:srgbClr val="222B33"/>
                          </a:solidFill>
                          <a:latin typeface="Calibri"/>
                        </a:rPr>
                        <a:t>Tested</a:t>
                      </a:r>
                    </a:p>
                  </a:txBody>
                  <a:tcPr marL="73152" marR="73152" marT="27432" marB="27432" anchor="ctr">
                    <a:solidFill>
                      <a:srgbClr val="FFFFFF"/>
                    </a:solidFill>
                  </a:tcPr>
                </a:tc>
                <a:tc>
                  <a:txBody>
                    <a:bodyPr wrap="square"/>
                    <a:lstStyle/>
                    <a:p>
                      <a:r>
                        <a:rPr sz="1400" b="0">
                          <a:solidFill>
                            <a:srgbClr val="222B33"/>
                          </a:solidFill>
                          <a:latin typeface="Calibri"/>
                        </a:rPr>
                        <a:t>M3</a:t>
                      </a:r>
                    </a:p>
                  </a:txBody>
                  <a:tcPr marL="73152" marR="73152" marT="27432" marB="27432" anchor="ctr">
                    <a:solidFill>
                      <a:srgbClr val="FFFFFF"/>
                    </a:solidFill>
                  </a:tcPr>
                </a:tc>
                <a:tc>
                  <a:txBody>
                    <a:bodyPr wrap="square"/>
                    <a:lstStyle/>
                    <a:p>
                      <a:r>
                        <a:rPr sz="1400" b="0">
                          <a:solidFill>
                            <a:srgbClr val="222B33"/>
                          </a:solidFill>
                          <a:latin typeface="Calibri"/>
                        </a:rPr>
                        <a:t>1</a:t>
                      </a:r>
                    </a:p>
                  </a:txBody>
                  <a:tcPr marL="73152" marR="73152" marT="27432" marB="27432" anchor="ctr">
                    <a:solidFill>
                      <a:srgbClr val="FFFFFF"/>
                    </a:solidFill>
                  </a:tcPr>
                </a:tc>
              </a:tr>
              <a:tr h="420624">
                <a:tc>
                  <a:txBody>
                    <a:bodyPr wrap="square"/>
                    <a:lstStyle/>
                    <a:p>
                      <a:r>
                        <a:rPr sz="1400" b="0">
                          <a:solidFill>
                            <a:srgbClr val="222B33"/>
                          </a:solidFill>
                          <a:latin typeface="Calibri"/>
                        </a:rPr>
                        <a:t>Hypervisor/VMBR presence</a:t>
                      </a:r>
                    </a:p>
                  </a:txBody>
                  <a:tcPr marL="73152" marR="73152" marT="27432" marB="27432" anchor="ctr">
                    <a:solidFill>
                      <a:srgbClr val="EAF3F4"/>
                    </a:solidFill>
                  </a:tcPr>
                </a:tc>
                <a:tc>
                  <a:txBody>
                    <a:bodyPr wrap="square"/>
                    <a:lstStyle/>
                    <a:p>
                      <a:r>
                        <a:rPr sz="1400" b="0">
                          <a:solidFill>
                            <a:srgbClr val="222B33"/>
                          </a:solidFill>
                          <a:latin typeface="Calibri"/>
                        </a:rPr>
                        <a:t>Tested</a:t>
                      </a:r>
                    </a:p>
                  </a:txBody>
                  <a:tcPr marL="73152" marR="73152" marT="27432" marB="27432" anchor="ctr">
                    <a:solidFill>
                      <a:srgbClr val="EAF3F4"/>
                    </a:solidFill>
                  </a:tcPr>
                </a:tc>
                <a:tc>
                  <a:txBody>
                    <a:bodyPr wrap="square"/>
                    <a:lstStyle/>
                    <a:p>
                      <a:r>
                        <a:rPr sz="1400" b="0">
                          <a:solidFill>
                            <a:srgbClr val="222B33"/>
                          </a:solidFill>
                          <a:latin typeface="Calibri"/>
                        </a:rPr>
                        <a:t>M4</a:t>
                      </a:r>
                    </a:p>
                  </a:txBody>
                  <a:tcPr marL="73152" marR="73152" marT="27432" marB="27432" anchor="ctr">
                    <a:solidFill>
                      <a:srgbClr val="EAF3F4"/>
                    </a:solidFill>
                  </a:tcPr>
                </a:tc>
                <a:tc>
                  <a:txBody>
                    <a:bodyPr wrap="square"/>
                    <a:lstStyle/>
                    <a:p>
                      <a:r>
                        <a:rPr sz="1400" b="0">
                          <a:solidFill>
                            <a:srgbClr val="222B33"/>
                          </a:solidFill>
                          <a:latin typeface="Calibri"/>
                        </a:rPr>
                        <a:t>1</a:t>
                      </a:r>
                    </a:p>
                  </a:txBody>
                  <a:tcPr marL="73152" marR="73152" marT="27432" marB="27432" anchor="ctr">
                    <a:solidFill>
                      <a:srgbClr val="EAF3F4"/>
                    </a:solidFill>
                  </a:tcPr>
                </a:tc>
              </a:tr>
            </a:tbl>
          </a:graphicData>
        </a:graphic>
      </p:graphicFrame>
      <p:sp>
        <p:nvSpPr>
          <p:cNvPr id="6" name="TextBox 5"/>
          <p:cNvSpPr txBox="1"/>
          <p:nvPr/>
        </p:nvSpPr>
        <p:spPr>
          <a:xfrm>
            <a:off x="548640" y="5623560"/>
            <a:ext cx="11064240" cy="640080"/>
          </a:xfrm>
          <a:prstGeom prst="rect">
            <a:avLst/>
          </a:prstGeom>
          <a:noFill/>
        </p:spPr>
        <p:txBody>
          <a:bodyPr wrap="square" anchor="t" lIns="45720" rIns="45720">
            <a:spAutoFit/>
          </a:bodyPr>
          <a:lstStyle/>
          <a:p>
            <a:pPr algn="l"/>
            <a:r>
              <a:rPr sz="1400" b="0">
                <a:solidFill>
                  <a:srgbClr val="5B6770"/>
                </a:solidFill>
                <a:latin typeface="Calibri"/>
              </a:rPr>
              <a:t>Label = how a class is tested, not a result. E1 = planned PC booted from an external SSD (not built).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M1: configuration auditor</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5</a:t>
            </a:r>
          </a:p>
        </p:txBody>
      </p:sp>
      <p:sp>
        <p:nvSpPr>
          <p:cNvPr id="5" name="TextBox 4"/>
          <p:cNvSpPr txBox="1"/>
          <p:nvPr/>
        </p:nvSpPr>
        <p:spPr>
          <a:xfrm>
            <a:off x="548640" y="1280160"/>
            <a:ext cx="11064240" cy="457200"/>
          </a:xfrm>
          <a:prstGeom prst="rect">
            <a:avLst/>
          </a:prstGeom>
          <a:noFill/>
        </p:spPr>
        <p:txBody>
          <a:bodyPr wrap="square" anchor="t" lIns="45720" rIns="45720">
            <a:spAutoFit/>
          </a:bodyPr>
          <a:lstStyle/>
          <a:p>
            <a:pPr algn="l"/>
            <a:r>
              <a:rPr sz="2000" b="1">
                <a:solidFill>
                  <a:srgbClr val="142B3F"/>
                </a:solidFill>
                <a:latin typeface="Calibri"/>
              </a:rPr>
              <a:t>84/84 seeded faults found in 50 fixtures; 0 false alarms in 1,310 clean checks.</a:t>
            </a:r>
          </a:p>
        </p:txBody>
      </p:sp>
      <p:sp>
        <p:nvSpPr>
          <p:cNvPr id="6" name="TextBox 5"/>
          <p:cNvSpPr txBox="1"/>
          <p:nvPr/>
        </p:nvSpPr>
        <p:spPr>
          <a:xfrm>
            <a:off x="548640" y="1828800"/>
            <a:ext cx="11064240" cy="822960"/>
          </a:xfrm>
          <a:prstGeom prst="rect">
            <a:avLst/>
          </a:prstGeom>
          <a:noFill/>
        </p:spPr>
        <p:txBody>
          <a:bodyPr wrap="square" anchor="t" lIns="45720" rIns="45720">
            <a:spAutoFit/>
          </a:bodyPr>
          <a:lstStyle/>
          <a:p>
            <a:pPr algn="l"/>
            <a:r>
              <a:rPr sz="1600" b="0">
                <a:solidFill>
                  <a:srgbClr val="222B33"/>
                </a:solidFill>
                <a:latin typeface="Calibri"/>
              </a:rPr>
              <a:t>28 checks: 15 config, 11 live (e.g. sVirt = per-VM security labels), 2 version (fixture CVE list; the real list gives NA).</a:t>
            </a:r>
          </a:p>
        </p:txBody>
      </p:sp>
      <p:sp>
        <p:nvSpPr>
          <p:cNvPr id="7" name="Rounded Rectangle 6"/>
          <p:cNvSpPr/>
          <p:nvPr/>
        </p:nvSpPr>
        <p:spPr>
          <a:xfrm>
            <a:off x="548640" y="2926080"/>
            <a:ext cx="5120640" cy="320040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3017520"/>
            <a:ext cx="4754880" cy="411480"/>
          </a:xfrm>
          <a:prstGeom prst="rect">
            <a:avLst/>
          </a:prstGeom>
          <a:noFill/>
        </p:spPr>
        <p:txBody>
          <a:bodyPr wrap="square" anchor="t" lIns="45720" rIns="45720">
            <a:spAutoFit/>
          </a:bodyPr>
          <a:lstStyle/>
          <a:p>
            <a:pPr algn="l"/>
            <a:r>
              <a:rPr sz="1800" b="1">
                <a:solidFill>
                  <a:srgbClr val="1E6B35"/>
                </a:solidFill>
                <a:latin typeface="Calibri"/>
              </a:rPr>
              <a:t>What 84/84 shows</a:t>
            </a:r>
          </a:p>
        </p:txBody>
      </p:sp>
      <p:sp>
        <p:nvSpPr>
          <p:cNvPr id="9" name="TextBox 8"/>
          <p:cNvSpPr txBox="1"/>
          <p:nvPr/>
        </p:nvSpPr>
        <p:spPr>
          <a:xfrm>
            <a:off x="731520" y="3566160"/>
            <a:ext cx="4754880" cy="2468880"/>
          </a:xfrm>
          <a:prstGeom prst="rect">
            <a:avLst/>
          </a:prstGeom>
          <a:noFill/>
        </p:spPr>
        <p:txBody>
          <a:bodyPr wrap="square">
            <a:spAutoFit/>
          </a:bodyPr>
          <a:lstStyle/>
          <a:p>
            <a:pPr>
              <a:spcAft>
                <a:spcPts val="900"/>
              </a:spcAft>
            </a:pPr>
            <a:r>
              <a:rPr sz="1600">
                <a:solidFill>
                  <a:srgbClr val="222B33"/>
                </a:solidFill>
                <a:latin typeface="Calibri"/>
              </a:rPr>
              <a:t>- Checker matches its own specification</a:t>
            </a:r>
          </a:p>
          <a:p>
            <a:pPr>
              <a:spcAft>
                <a:spcPts val="900"/>
              </a:spcAft>
            </a:pPr>
            <a:r>
              <a:rPr sz="1600">
                <a:solidFill>
                  <a:srgbClr val="222B33"/>
                </a:solidFill>
                <a:latin typeface="Calibri"/>
              </a:rPr>
              <a:t>- Missing input gives NA, never PASS</a:t>
            </a:r>
          </a:p>
        </p:txBody>
      </p:sp>
      <p:sp>
        <p:nvSpPr>
          <p:cNvPr id="10" name="Rounded Rectangle 9"/>
          <p:cNvSpPr/>
          <p:nvPr/>
        </p:nvSpPr>
        <p:spPr>
          <a:xfrm>
            <a:off x="5943600" y="2926080"/>
            <a:ext cx="5669280" cy="3200400"/>
          </a:xfrm>
          <a:prstGeom prst="roundRect">
            <a:avLst>
              <a:gd name="adj" fmla="val 6000"/>
            </a:avLst>
          </a:prstGeom>
          <a:solidFill>
            <a:srgbClr val="FDEEEE"/>
          </a:solidFill>
          <a:ln w="19050">
            <a:solidFill>
              <a:srgbClr val="A61E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3017520"/>
            <a:ext cx="5303520" cy="411480"/>
          </a:xfrm>
          <a:prstGeom prst="rect">
            <a:avLst/>
          </a:prstGeom>
          <a:noFill/>
        </p:spPr>
        <p:txBody>
          <a:bodyPr wrap="square" anchor="t" lIns="45720" rIns="45720">
            <a:spAutoFit/>
          </a:bodyPr>
          <a:lstStyle/>
          <a:p>
            <a:pPr algn="l"/>
            <a:r>
              <a:rPr sz="1800" b="1">
                <a:solidFill>
                  <a:srgbClr val="A61E1E"/>
                </a:solidFill>
                <a:latin typeface="Calibri"/>
              </a:rPr>
              <a:t>What it does not show</a:t>
            </a:r>
          </a:p>
        </p:txBody>
      </p:sp>
      <p:sp>
        <p:nvSpPr>
          <p:cNvPr id="12" name="TextBox 11"/>
          <p:cNvSpPr txBox="1"/>
          <p:nvPr/>
        </p:nvSpPr>
        <p:spPr>
          <a:xfrm>
            <a:off x="6126480" y="3566160"/>
            <a:ext cx="5303520" cy="2468880"/>
          </a:xfrm>
          <a:prstGeom prst="rect">
            <a:avLst/>
          </a:prstGeom>
          <a:noFill/>
        </p:spPr>
        <p:txBody>
          <a:bodyPr wrap="square">
            <a:spAutoFit/>
          </a:bodyPr>
          <a:lstStyle/>
          <a:p>
            <a:pPr>
              <a:spcAft>
                <a:spcPts val="900"/>
              </a:spcAft>
            </a:pPr>
            <a:r>
              <a:rPr sz="1600">
                <a:solidFill>
                  <a:srgbClr val="222B33"/>
                </a:solidFill>
                <a:latin typeface="Calibri"/>
              </a:rPr>
              <a:t>- Real-world correctness</a:t>
            </a:r>
          </a:p>
          <a:p>
            <a:pPr>
              <a:spcAft>
                <a:spcPts val="900"/>
              </a:spcAft>
            </a:pPr>
            <a:r>
              <a:rPr sz="1600">
                <a:solidFill>
                  <a:srgbClr val="222B33"/>
                </a:solidFill>
                <a:latin typeface="Calibri"/>
              </a:rPr>
              <a:t>- Independent evidence: same author, tests written by the same AI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M1 to M3 in brief</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6</a:t>
            </a:r>
          </a:p>
        </p:txBody>
      </p:sp>
      <p:sp>
        <p:nvSpPr>
          <p:cNvPr id="5" name="Rounded Rectangle 4"/>
          <p:cNvSpPr/>
          <p:nvPr/>
        </p:nvSpPr>
        <p:spPr>
          <a:xfrm>
            <a:off x="548640" y="1371600"/>
            <a:ext cx="3566160" cy="31089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3291840" cy="411480"/>
          </a:xfrm>
          <a:prstGeom prst="rect">
            <a:avLst/>
          </a:prstGeom>
          <a:noFill/>
        </p:spPr>
        <p:txBody>
          <a:bodyPr wrap="square" anchor="t" lIns="45720" rIns="45720">
            <a:spAutoFit/>
          </a:bodyPr>
          <a:lstStyle/>
          <a:p>
            <a:pPr algn="l"/>
            <a:r>
              <a:rPr sz="1600" b="1">
                <a:solidFill>
                  <a:srgbClr val="0B6B74"/>
                </a:solidFill>
                <a:latin typeface="Calibri"/>
              </a:rPr>
              <a:t>M1 Config auditor</a:t>
            </a:r>
          </a:p>
        </p:txBody>
      </p:sp>
      <p:sp>
        <p:nvSpPr>
          <p:cNvPr id="7" name="TextBox 6"/>
          <p:cNvSpPr txBox="1"/>
          <p:nvPr/>
        </p:nvSpPr>
        <p:spPr>
          <a:xfrm>
            <a:off x="685800" y="1874519"/>
            <a:ext cx="3291840" cy="2514600"/>
          </a:xfrm>
          <a:prstGeom prst="rect">
            <a:avLst/>
          </a:prstGeom>
          <a:noFill/>
        </p:spPr>
        <p:txBody>
          <a:bodyPr wrap="square" anchor="t" lIns="45720" rIns="45720">
            <a:spAutoFit/>
          </a:bodyPr>
          <a:lstStyle/>
          <a:p>
            <a:pPr algn="l"/>
            <a:r>
              <a:rPr sz="1600" b="0">
                <a:solidFill>
                  <a:srgbClr val="222B33"/>
                </a:solidFill>
                <a:latin typeface="Calibri"/>
              </a:rPr>
              <a:t>28 checks on a host's configuration; each gives PASS, FAIL or NA.</a:t>
            </a:r>
          </a:p>
        </p:txBody>
      </p:sp>
      <p:sp>
        <p:nvSpPr>
          <p:cNvPr id="8" name="Rounded Rectangle 7"/>
          <p:cNvSpPr/>
          <p:nvPr/>
        </p:nvSpPr>
        <p:spPr>
          <a:xfrm>
            <a:off x="4297680" y="1371600"/>
            <a:ext cx="3566160" cy="31089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434840" y="1463040"/>
            <a:ext cx="3291840" cy="411480"/>
          </a:xfrm>
          <a:prstGeom prst="rect">
            <a:avLst/>
          </a:prstGeom>
          <a:noFill/>
        </p:spPr>
        <p:txBody>
          <a:bodyPr wrap="square" anchor="t" lIns="45720" rIns="45720">
            <a:spAutoFit/>
          </a:bodyPr>
          <a:lstStyle/>
          <a:p>
            <a:pPr algn="l"/>
            <a:r>
              <a:rPr sz="1600" b="1">
                <a:solidFill>
                  <a:srgbClr val="0B6B74"/>
                </a:solidFill>
                <a:latin typeface="Calibri"/>
              </a:rPr>
              <a:t>M2 Snapshot privacy</a:t>
            </a:r>
          </a:p>
        </p:txBody>
      </p:sp>
      <p:sp>
        <p:nvSpPr>
          <p:cNvPr id="10" name="TextBox 9"/>
          <p:cNvSpPr txBox="1"/>
          <p:nvPr/>
        </p:nvSpPr>
        <p:spPr>
          <a:xfrm>
            <a:off x="4434840" y="1874519"/>
            <a:ext cx="3291840" cy="2514600"/>
          </a:xfrm>
          <a:prstGeom prst="rect">
            <a:avLst/>
          </a:prstGeom>
          <a:noFill/>
        </p:spPr>
        <p:txBody>
          <a:bodyPr wrap="square" anchor="t" lIns="45720" rIns="45720">
            <a:spAutoFit/>
          </a:bodyPr>
          <a:lstStyle/>
          <a:p>
            <a:pPr algn="l"/>
            <a:r>
              <a:rPr sz="1600" b="0">
                <a:solidFill>
                  <a:srgbClr val="222B33"/>
                </a:solidFill>
                <a:latin typeface="Calibri"/>
              </a:rPr>
              <a:t>Scans VM memory snapshots for planted fake secrets.</a:t>
            </a:r>
          </a:p>
        </p:txBody>
      </p:sp>
      <p:sp>
        <p:nvSpPr>
          <p:cNvPr id="11" name="Rounded Rectangle 10"/>
          <p:cNvSpPr/>
          <p:nvPr/>
        </p:nvSpPr>
        <p:spPr>
          <a:xfrm>
            <a:off x="8046720" y="1371600"/>
            <a:ext cx="3566160" cy="31089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83880" y="1463040"/>
            <a:ext cx="3291840" cy="411480"/>
          </a:xfrm>
          <a:prstGeom prst="rect">
            <a:avLst/>
          </a:prstGeom>
          <a:noFill/>
        </p:spPr>
        <p:txBody>
          <a:bodyPr wrap="square" anchor="t" lIns="45720" rIns="45720">
            <a:spAutoFit/>
          </a:bodyPr>
          <a:lstStyle/>
          <a:p>
            <a:pPr algn="l"/>
            <a:r>
              <a:rPr sz="1600" b="1">
                <a:solidFill>
                  <a:srgbClr val="0B6B74"/>
                </a:solidFill>
                <a:latin typeface="Calibri"/>
              </a:rPr>
              <a:t>M3 Offline forensics</a:t>
            </a:r>
          </a:p>
        </p:txBody>
      </p:sp>
      <p:sp>
        <p:nvSpPr>
          <p:cNvPr id="13" name="TextBox 12"/>
          <p:cNvSpPr txBox="1"/>
          <p:nvPr/>
        </p:nvSpPr>
        <p:spPr>
          <a:xfrm>
            <a:off x="8183880" y="1874519"/>
            <a:ext cx="3291840" cy="2514600"/>
          </a:xfrm>
          <a:prstGeom prst="rect">
            <a:avLst/>
          </a:prstGeom>
          <a:noFill/>
        </p:spPr>
        <p:txBody>
          <a:bodyPr wrap="square" anchor="t" lIns="45720" rIns="45720">
            <a:spAutoFit/>
          </a:bodyPr>
          <a:lstStyle/>
          <a:p>
            <a:pPr algn="l"/>
            <a:r>
              <a:rPr sz="1600" b="0">
                <a:solidFill>
                  <a:srgbClr val="222B33"/>
                </a:solidFill>
                <a:latin typeface="Calibri"/>
              </a:rPr>
              <a:t>Compares pslist and psscan (two ways of listing processes in a memory dump) to find hidden ones.</a:t>
            </a:r>
          </a:p>
        </p:txBody>
      </p:sp>
      <p:sp>
        <p:nvSpPr>
          <p:cNvPr id="14" name="TextBox 13"/>
          <p:cNvSpPr txBox="1"/>
          <p:nvPr/>
        </p:nvSpPr>
        <p:spPr>
          <a:xfrm>
            <a:off x="548640" y="4754880"/>
            <a:ext cx="11064240" cy="1097280"/>
          </a:xfrm>
          <a:prstGeom prst="rect">
            <a:avLst/>
          </a:prstGeom>
          <a:noFill/>
        </p:spPr>
        <p:txBody>
          <a:bodyPr wrap="square" anchor="t" lIns="45720" rIns="45720">
            <a:spAutoFit/>
          </a:bodyPr>
          <a:lstStyle/>
          <a:p>
            <a:pPr algn="l"/>
            <a:r>
              <a:rPr sz="1800" b="1">
                <a:solidFill>
                  <a:srgbClr val="8A5000"/>
                </a:solidFill>
                <a:latin typeface="Calibri"/>
              </a:rPr>
              <a:t>M2 and M3: scanner and scoring code tested on synthetic input only. Volatility has not run on real dumps.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M4: multi-signal hypervisor detection (design)</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7</a:t>
            </a:r>
          </a:p>
        </p:txBody>
      </p:sp>
      <p:sp>
        <p:nvSpPr>
          <p:cNvPr id="5" name="TextBox 4"/>
          <p:cNvSpPr txBox="1"/>
          <p:nvPr/>
        </p:nvSpPr>
        <p:spPr>
          <a:xfrm>
            <a:off x="548640" y="1280160"/>
            <a:ext cx="11064240" cy="365760"/>
          </a:xfrm>
          <a:prstGeom prst="rect">
            <a:avLst/>
          </a:prstGeom>
          <a:noFill/>
        </p:spPr>
        <p:txBody>
          <a:bodyPr wrap="square" anchor="t" lIns="45720" rIns="45720">
            <a:spAutoFit/>
          </a:bodyPr>
          <a:lstStyle/>
          <a:p>
            <a:pPr algn="l"/>
            <a:r>
              <a:rPr sz="1500" b="0">
                <a:solidFill>
                  <a:srgbClr val="5B6770"/>
                </a:solidFill>
                <a:latin typeface="Calibri"/>
              </a:rPr>
              <a:t>Same PC, same image, 15 boot sessions per class (planned)</a:t>
            </a:r>
          </a:p>
        </p:txBody>
      </p:sp>
      <p:sp>
        <p:nvSpPr>
          <p:cNvPr id="6" name="Rounded Rectangle 5"/>
          <p:cNvSpPr/>
          <p:nvPr/>
        </p:nvSpPr>
        <p:spPr>
          <a:xfrm>
            <a:off x="548640" y="1737360"/>
            <a:ext cx="3566160" cy="237744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828800"/>
            <a:ext cx="3291840" cy="411480"/>
          </a:xfrm>
          <a:prstGeom prst="rect">
            <a:avLst/>
          </a:prstGeom>
          <a:noFill/>
        </p:spPr>
        <p:txBody>
          <a:bodyPr wrap="square" anchor="t" lIns="45720" rIns="45720">
            <a:spAutoFit/>
          </a:bodyPr>
          <a:lstStyle/>
          <a:p>
            <a:pPr algn="l"/>
            <a:r>
              <a:rPr sz="1600" b="1">
                <a:solidFill>
                  <a:srgbClr val="0B6B74"/>
                </a:solidFill>
                <a:latin typeface="Calibri"/>
              </a:rPr>
              <a:t>native</a:t>
            </a:r>
          </a:p>
        </p:txBody>
      </p:sp>
      <p:sp>
        <p:nvSpPr>
          <p:cNvPr id="8" name="TextBox 7"/>
          <p:cNvSpPr txBox="1"/>
          <p:nvPr/>
        </p:nvSpPr>
        <p:spPr>
          <a:xfrm>
            <a:off x="685800" y="2240280"/>
            <a:ext cx="3291840" cy="1783080"/>
          </a:xfrm>
          <a:prstGeom prst="rect">
            <a:avLst/>
          </a:prstGeom>
          <a:noFill/>
        </p:spPr>
        <p:txBody>
          <a:bodyPr wrap="square" anchor="t" lIns="45720" rIns="45720">
            <a:spAutoFit/>
          </a:bodyPr>
          <a:lstStyle/>
          <a:p>
            <a:pPr algn="l"/>
            <a:r>
              <a:rPr sz="1600" b="0">
                <a:solidFill>
                  <a:srgbClr val="222B33"/>
                </a:solidFill>
                <a:latin typeface="Calibri"/>
              </a:rPr>
              <a:t>Ubuntu
PC hardware</a:t>
            </a:r>
          </a:p>
        </p:txBody>
      </p:sp>
      <p:sp>
        <p:nvSpPr>
          <p:cNvPr id="9" name="Rounded Rectangle 8"/>
          <p:cNvSpPr/>
          <p:nvPr/>
        </p:nvSpPr>
        <p:spPr>
          <a:xfrm>
            <a:off x="4297680" y="1737360"/>
            <a:ext cx="3566160" cy="237744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34840" y="1828800"/>
            <a:ext cx="3291840" cy="411480"/>
          </a:xfrm>
          <a:prstGeom prst="rect">
            <a:avLst/>
          </a:prstGeom>
          <a:noFill/>
        </p:spPr>
        <p:txBody>
          <a:bodyPr wrap="square" anchor="t" lIns="45720" rIns="45720">
            <a:spAutoFit/>
          </a:bodyPr>
          <a:lstStyle/>
          <a:p>
            <a:pPr algn="l"/>
            <a:r>
              <a:rPr sz="1600" b="1">
                <a:solidFill>
                  <a:srgbClr val="0B6B74"/>
                </a:solidFill>
                <a:latin typeface="Calibri"/>
              </a:rPr>
              <a:t>kvm-plain</a:t>
            </a:r>
          </a:p>
        </p:txBody>
      </p:sp>
      <p:sp>
        <p:nvSpPr>
          <p:cNvPr id="11" name="TextBox 10"/>
          <p:cNvSpPr txBox="1"/>
          <p:nvPr/>
        </p:nvSpPr>
        <p:spPr>
          <a:xfrm>
            <a:off x="4434840" y="2240280"/>
            <a:ext cx="3291840" cy="1783080"/>
          </a:xfrm>
          <a:prstGeom prst="rect">
            <a:avLst/>
          </a:prstGeom>
          <a:noFill/>
        </p:spPr>
        <p:txBody>
          <a:bodyPr wrap="square" anchor="t" lIns="45720" rIns="45720">
            <a:spAutoFit/>
          </a:bodyPr>
          <a:lstStyle/>
          <a:p>
            <a:pPr algn="l"/>
            <a:r>
              <a:rPr sz="1600" b="0">
                <a:solidFill>
                  <a:srgbClr val="222B33"/>
                </a:solidFill>
                <a:latin typeface="Calibri"/>
              </a:rPr>
              <a:t>Guest OS
QEMU/KVM
PC hardware</a:t>
            </a:r>
          </a:p>
        </p:txBody>
      </p:sp>
      <p:sp>
        <p:nvSpPr>
          <p:cNvPr id="12" name="Rounded Rectangle 11"/>
          <p:cNvSpPr/>
          <p:nvPr/>
        </p:nvSpPr>
        <p:spPr>
          <a:xfrm>
            <a:off x="8046720" y="1737360"/>
            <a:ext cx="3566160" cy="2377440"/>
          </a:xfrm>
          <a:prstGeom prst="roundRect">
            <a:avLst>
              <a:gd name="adj" fmla="val 6000"/>
            </a:avLst>
          </a:prstGeom>
          <a:solidFill>
            <a:srgbClr val="FFF1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183880" y="1828800"/>
            <a:ext cx="3291840" cy="411480"/>
          </a:xfrm>
          <a:prstGeom prst="rect">
            <a:avLst/>
          </a:prstGeom>
          <a:noFill/>
        </p:spPr>
        <p:txBody>
          <a:bodyPr wrap="square" anchor="t" lIns="45720" rIns="45720">
            <a:spAutoFit/>
          </a:bodyPr>
          <a:lstStyle/>
          <a:p>
            <a:pPr algn="l"/>
            <a:r>
              <a:rPr sz="1600" b="1">
                <a:solidFill>
                  <a:srgbClr val="0B6B74"/>
                </a:solidFill>
                <a:latin typeface="Calibri"/>
              </a:rPr>
              <a:t>kvm-masked</a:t>
            </a:r>
          </a:p>
        </p:txBody>
      </p:sp>
      <p:sp>
        <p:nvSpPr>
          <p:cNvPr id="14" name="TextBox 13"/>
          <p:cNvSpPr txBox="1"/>
          <p:nvPr/>
        </p:nvSpPr>
        <p:spPr>
          <a:xfrm>
            <a:off x="8183880" y="2240280"/>
            <a:ext cx="3291840" cy="1783080"/>
          </a:xfrm>
          <a:prstGeom prst="rect">
            <a:avLst/>
          </a:prstGeom>
          <a:noFill/>
        </p:spPr>
        <p:txBody>
          <a:bodyPr wrap="square" anchor="t" lIns="45720" rIns="45720">
            <a:spAutoFit/>
          </a:bodyPr>
          <a:lstStyle/>
          <a:p>
            <a:pPr algn="l"/>
            <a:r>
              <a:rPr sz="1600" b="0">
                <a:solidFill>
                  <a:srgbClr val="222B33"/>
                </a:solidFill>
                <a:latin typeface="Calibri"/>
              </a:rPr>
              <a:t>Guest OS, static indicators hidden
QEMU/KVM
PC hardware
Not a real VMBR</a:t>
            </a:r>
          </a:p>
        </p:txBody>
      </p:sp>
      <p:sp>
        <p:nvSpPr>
          <p:cNvPr id="15" name="TextBox 14"/>
          <p:cNvSpPr txBox="1"/>
          <p:nvPr/>
        </p:nvSpPr>
        <p:spPr>
          <a:xfrm>
            <a:off x="548640" y="4343400"/>
            <a:ext cx="11064240" cy="1920240"/>
          </a:xfrm>
          <a:prstGeom prst="rect">
            <a:avLst/>
          </a:prstGeom>
          <a:noFill/>
        </p:spPr>
        <p:txBody>
          <a:bodyPr wrap="square">
            <a:spAutoFit/>
          </a:bodyPr>
          <a:lstStyle/>
          <a:p>
            <a:pPr>
              <a:spcAft>
                <a:spcPts val="900"/>
              </a:spcAft>
            </a:pPr>
            <a:r>
              <a:rPr b="1" sz="1600">
                <a:solidFill>
                  <a:srgbClr val="0B6B74"/>
                </a:solidFill>
                <a:latin typeface="Calibri"/>
              </a:rPr>
              <a:t>E1 </a:t>
            </a:r>
            <a:r>
              <a:rPr sz="1600">
                <a:solidFill>
                  <a:srgbClr val="222B33"/>
                </a:solidFill>
                <a:latin typeface="Calibri"/>
              </a:rPr>
              <a:t>the planned PC booted from an external SSD; not built</a:t>
            </a:r>
          </a:p>
          <a:p>
            <a:pPr>
              <a:spcAft>
                <a:spcPts val="900"/>
              </a:spcAft>
            </a:pPr>
            <a:r>
              <a:rPr b="1" sz="1600">
                <a:solidFill>
                  <a:srgbClr val="0B6B74"/>
                </a:solidFill>
                <a:latin typeface="Calibri"/>
              </a:rPr>
              <a:t>Signals </a:t>
            </a:r>
            <a:r>
              <a:rPr sz="1600">
                <a:solidFill>
                  <a:srgbClr val="222B33"/>
                </a:solidFill>
                <a:latin typeface="Calibri"/>
              </a:rPr>
              <a:t>timing, memory, scheduler jitter</a:t>
            </a:r>
          </a:p>
          <a:p>
            <a:pPr>
              <a:spcAft>
                <a:spcPts val="900"/>
              </a:spcAft>
            </a:pPr>
            <a:r>
              <a:rPr b="1" sz="1600">
                <a:solidFill>
                  <a:srgbClr val="0B6B74"/>
                </a:solidFill>
                <a:latin typeface="Calibri"/>
              </a:rPr>
              <a:t>bench.c </a:t>
            </a:r>
            <a:r>
              <a:rPr sz="1600">
                <a:solidFill>
                  <a:srgbClr val="222B33"/>
                </a:solidFill>
                <a:latin typeface="Calibri"/>
              </a:rPr>
              <a:t>one functional run in WSL2 (a VM), never native or in a guest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Pre-specified analysis plan: hypotheses H1 to H4</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8</a:t>
            </a:r>
          </a:p>
        </p:txBody>
      </p:sp>
      <p:graphicFrame>
        <p:nvGraphicFramePr>
          <p:cNvPr id="5" name="Table 4"/>
          <p:cNvGraphicFramePr>
            <a:graphicFrameLocks noGrp="1"/>
          </p:cNvGraphicFramePr>
          <p:nvPr/>
        </p:nvGraphicFramePr>
        <p:xfrm>
          <a:off x="548640" y="1280160"/>
          <a:ext cx="11064240" cy="2743200"/>
        </p:xfrm>
        <a:graphic>
          <a:graphicData uri="http://schemas.openxmlformats.org/drawingml/2006/table">
            <a:tbl>
              <a:tblPr firstRow="1" bandRow="1">
                <a:tableStyleId>{5C22544A-7EE6-4342-B048-85BDC9FD1C3A}</a:tableStyleId>
              </a:tblPr>
              <a:tblGrid>
                <a:gridCol w="4937760"/>
                <a:gridCol w="6126480"/>
              </a:tblGrid>
              <a:tr h="548640">
                <a:tc>
                  <a:txBody>
                    <a:bodyPr wrap="square"/>
                    <a:lstStyle/>
                    <a:p>
                      <a:r>
                        <a:rPr sz="1400" b="1">
                          <a:solidFill>
                            <a:srgbClr val="FFFFFF"/>
                          </a:solidFill>
                          <a:latin typeface="Calibri"/>
                        </a:rPr>
                        <a:t>Hypothesis</a:t>
                      </a:r>
                    </a:p>
                  </a:txBody>
                  <a:tcPr marL="73152" marR="73152" marT="27432" marB="27432" anchor="ctr">
                    <a:solidFill>
                      <a:srgbClr val="142B3F"/>
                    </a:solidFill>
                  </a:tcPr>
                </a:tc>
                <a:tc>
                  <a:txBody>
                    <a:bodyPr wrap="square"/>
                    <a:lstStyle/>
                    <a:p>
                      <a:r>
                        <a:rPr sz="1400" b="1">
                          <a:solidFill>
                            <a:srgbClr val="FFFFFF"/>
                          </a:solidFill>
                          <a:latin typeface="Calibri"/>
                        </a:rPr>
                        <a:t>Supported if</a:t>
                      </a:r>
                    </a:p>
                  </a:txBody>
                  <a:tcPr marL="73152" marR="73152" marT="27432" marB="27432" anchor="ctr">
                    <a:solidFill>
                      <a:srgbClr val="142B3F"/>
                    </a:solidFill>
                  </a:tcPr>
                </a:tc>
              </a:tr>
              <a:tr h="548640">
                <a:tc>
                  <a:txBody>
                    <a:bodyPr wrap="square"/>
                    <a:lstStyle/>
                    <a:p>
                      <a:r>
                        <a:rPr sz="1400" b="0">
                          <a:solidFill>
                            <a:srgbClr val="222B33"/>
                          </a:solidFill>
                          <a:latin typeface="Calibri"/>
                        </a:rPr>
                        <a:t>H1  Combined signals beat best single signal</a:t>
                      </a:r>
                    </a:p>
                  </a:txBody>
                  <a:tcPr marL="73152" marR="73152" marT="27432" marB="27432" anchor="ctr">
                    <a:solidFill>
                      <a:srgbClr val="EAF3F4"/>
                    </a:solidFill>
                  </a:tcPr>
                </a:tc>
                <a:tc>
                  <a:txBody>
                    <a:bodyPr wrap="square"/>
                    <a:lstStyle/>
                    <a:p>
                      <a:r>
                        <a:rPr sz="1400" b="0">
                          <a:solidFill>
                            <a:srgbClr val="222B33"/>
                          </a:solidFill>
                          <a:latin typeface="Calibri"/>
                        </a:rPr>
                        <a:t>AUROC higher at T_short; p &lt; 0.05</a:t>
                      </a:r>
                    </a:p>
                  </a:txBody>
                  <a:tcPr marL="73152" marR="73152" marT="27432" marB="27432" anchor="ctr">
                    <a:solidFill>
                      <a:srgbClr val="EAF3F4"/>
                    </a:solidFill>
                  </a:tcPr>
                </a:tc>
              </a:tr>
              <a:tr h="548640">
                <a:tc>
                  <a:txBody>
                    <a:bodyPr wrap="square"/>
                    <a:lstStyle/>
                    <a:p>
                      <a:r>
                        <a:rPr sz="1400" b="0">
                          <a:solidFill>
                            <a:srgbClr val="222B33"/>
                          </a:solidFill>
                          <a:latin typeface="Calibri"/>
                        </a:rPr>
                        <a:t>H2  Fewer false alarms on native</a:t>
                      </a:r>
                    </a:p>
                  </a:txBody>
                  <a:tcPr marL="73152" marR="73152" marT="27432" marB="27432" anchor="ctr">
                    <a:solidFill>
                      <a:srgbClr val="FFFFFF"/>
                    </a:solidFill>
                  </a:tcPr>
                </a:tc>
                <a:tc>
                  <a:txBody>
                    <a:bodyPr wrap="square"/>
                    <a:lstStyle/>
                    <a:p>
                      <a:r>
                        <a:rPr sz="1400" b="0">
                          <a:solidFill>
                            <a:srgbClr val="222B33"/>
                          </a:solidFill>
                          <a:latin typeface="Calibri"/>
                        </a:rPr>
                        <a:t>FPR difference CI excludes 0; Holm p &lt; 0.05</a:t>
                      </a:r>
                    </a:p>
                  </a:txBody>
                  <a:tcPr marL="73152" marR="73152" marT="27432" marB="27432" anchor="ctr">
                    <a:solidFill>
                      <a:srgbClr val="FFFFFF"/>
                    </a:solidFill>
                  </a:tcPr>
                </a:tc>
              </a:tr>
              <a:tr h="548640">
                <a:tc>
                  <a:txBody>
                    <a:bodyPr wrap="square"/>
                    <a:lstStyle/>
                    <a:p>
                      <a:r>
                        <a:rPr sz="1400" b="0">
                          <a:solidFill>
                            <a:srgbClr val="222B33"/>
                          </a:solidFill>
                          <a:latin typeface="Calibri"/>
                        </a:rPr>
                        <a:t>H3  Robust to unseen workloads</a:t>
                      </a:r>
                    </a:p>
                  </a:txBody>
                  <a:tcPr marL="73152" marR="73152" marT="27432" marB="27432" anchor="ctr">
                    <a:solidFill>
                      <a:srgbClr val="EAF3F4"/>
                    </a:solidFill>
                  </a:tcPr>
                </a:tc>
                <a:tc>
                  <a:txBody>
                    <a:bodyPr wrap="square"/>
                    <a:lstStyle/>
                    <a:p>
                      <a:r>
                        <a:rPr sz="1400" b="0">
                          <a:solidFill>
                            <a:srgbClr val="222B33"/>
                          </a:solidFill>
                          <a:latin typeface="Calibri"/>
                        </a:rPr>
                        <a:t>Upper 95% bootstrap bound of AUROC drop &lt; 0.05; Holm p &lt; 0.05</a:t>
                      </a:r>
                    </a:p>
                  </a:txBody>
                  <a:tcPr marL="73152" marR="73152" marT="27432" marB="27432" anchor="ctr">
                    <a:solidFill>
                      <a:srgbClr val="EAF3F4"/>
                    </a:solidFill>
                  </a:tcPr>
                </a:tc>
              </a:tr>
              <a:tr h="548640">
                <a:tc>
                  <a:txBody>
                    <a:bodyPr wrap="square"/>
                    <a:lstStyle/>
                    <a:p>
                      <a:r>
                        <a:rPr sz="1400" b="0">
                          <a:solidFill>
                            <a:srgbClr val="222B33"/>
                          </a:solidFill>
                          <a:latin typeface="Calibri"/>
                        </a:rPr>
                        <a:t>H4  Practical cost</a:t>
                      </a:r>
                    </a:p>
                  </a:txBody>
                  <a:tcPr marL="73152" marR="73152" marT="27432" marB="27432" anchor="ctr">
                    <a:solidFill>
                      <a:srgbClr val="FFFFFF"/>
                    </a:solidFill>
                  </a:tcPr>
                </a:tc>
                <a:tc>
                  <a:txBody>
                    <a:bodyPr wrap="square"/>
                    <a:lstStyle/>
                    <a:p>
                      <a:r>
                        <a:rPr sz="1400" b="0">
                          <a:solidFill>
                            <a:srgbClr val="222B33"/>
                          </a:solidFill>
                          <a:latin typeface="Calibri"/>
                        </a:rPr>
                        <a:t>Under 10 s per decision, under 5% overhead</a:t>
                      </a:r>
                    </a:p>
                  </a:txBody>
                  <a:tcPr marL="73152" marR="73152" marT="27432" marB="27432" anchor="ctr">
                    <a:solidFill>
                      <a:srgbClr val="FFFFFF"/>
                    </a:solidFill>
                  </a:tcPr>
                </a:tc>
              </a:tr>
            </a:tbl>
          </a:graphicData>
        </a:graphic>
      </p:graphicFrame>
      <p:sp>
        <p:nvSpPr>
          <p:cNvPr id="6" name="TextBox 5"/>
          <p:cNvSpPr txBox="1"/>
          <p:nvPr/>
        </p:nvSpPr>
        <p:spPr>
          <a:xfrm>
            <a:off x="548640" y="4297680"/>
            <a:ext cx="11064240" cy="1920240"/>
          </a:xfrm>
          <a:prstGeom prst="rect">
            <a:avLst/>
          </a:prstGeom>
          <a:noFill/>
        </p:spPr>
        <p:txBody>
          <a:bodyPr wrap="square">
            <a:spAutoFit/>
          </a:bodyPr>
          <a:lstStyle/>
          <a:p>
            <a:pPr>
              <a:spcAft>
                <a:spcPts val="900"/>
              </a:spcAft>
            </a:pPr>
            <a:r>
              <a:rPr b="1" sz="1600">
                <a:solidFill>
                  <a:srgbClr val="0B6B74"/>
                </a:solidFill>
                <a:latin typeface="Calibri"/>
              </a:rPr>
              <a:t>AUROC </a:t>
            </a:r>
            <a:r>
              <a:rPr sz="1600">
                <a:solidFill>
                  <a:srgbClr val="222B33"/>
                </a:solidFill>
                <a:latin typeface="Calibri"/>
              </a:rPr>
              <a:t>0.5 = chance, 1 = perfect</a:t>
            </a:r>
          </a:p>
          <a:p>
            <a:pPr>
              <a:spcAft>
                <a:spcPts val="900"/>
              </a:spcAft>
            </a:pPr>
            <a:r>
              <a:rPr b="1" sz="1600">
                <a:solidFill>
                  <a:srgbClr val="0B6B74"/>
                </a:solidFill>
                <a:latin typeface="Calibri"/>
              </a:rPr>
              <a:t>Holm </a:t>
            </a:r>
            <a:r>
              <a:rPr sz="1600">
                <a:solidFill>
                  <a:srgbClr val="222B33"/>
                </a:solidFill>
                <a:latin typeface="Calibri"/>
              </a:rPr>
              <a:t>multiple-test correction</a:t>
            </a:r>
          </a:p>
          <a:p>
            <a:pPr>
              <a:spcAft>
                <a:spcPts val="900"/>
              </a:spcAft>
            </a:pPr>
            <a:r>
              <a:rPr b="1" sz="1600">
                <a:solidFill>
                  <a:srgbClr val="0B6B74"/>
                </a:solidFill>
                <a:latin typeface="Calibri"/>
              </a:rPr>
              <a:t>Status </a:t>
            </a:r>
            <a:r>
              <a:rPr sz="1600">
                <a:solidFill>
                  <a:srgbClr val="222B33"/>
                </a:solidFill>
                <a:latin typeface="Calibri"/>
              </a:rPr>
              <a:t>draft plan, not yet committed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Safety and lab rules</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9</a:t>
            </a:r>
          </a:p>
        </p:txBody>
      </p:sp>
      <p:sp>
        <p:nvSpPr>
          <p:cNvPr id="5" name="Rounded Rectangle 4"/>
          <p:cNvSpPr/>
          <p:nvPr/>
        </p:nvSpPr>
        <p:spPr>
          <a:xfrm>
            <a:off x="548640" y="1371600"/>
            <a:ext cx="5486400" cy="21945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463040"/>
            <a:ext cx="5212080" cy="411480"/>
          </a:xfrm>
          <a:prstGeom prst="rect">
            <a:avLst/>
          </a:prstGeom>
          <a:noFill/>
        </p:spPr>
        <p:txBody>
          <a:bodyPr wrap="square" anchor="t" lIns="45720" rIns="45720">
            <a:spAutoFit/>
          </a:bodyPr>
          <a:lstStyle/>
          <a:p>
            <a:pPr algn="l"/>
            <a:r>
              <a:rPr sz="1600" b="1">
                <a:solidFill>
                  <a:srgbClr val="0B6B74"/>
                </a:solidFill>
                <a:latin typeface="Calibri"/>
              </a:rPr>
              <a:t>Preflight gate</a:t>
            </a:r>
          </a:p>
        </p:txBody>
      </p:sp>
      <p:sp>
        <p:nvSpPr>
          <p:cNvPr id="7" name="TextBox 6"/>
          <p:cNvSpPr txBox="1"/>
          <p:nvPr/>
        </p:nvSpPr>
        <p:spPr>
          <a:xfrm>
            <a:off x="685800" y="1874519"/>
            <a:ext cx="5212080" cy="1600200"/>
          </a:xfrm>
          <a:prstGeom prst="rect">
            <a:avLst/>
          </a:prstGeom>
          <a:noFill/>
        </p:spPr>
        <p:txBody>
          <a:bodyPr wrap="square" anchor="t" lIns="45720" rIns="45720">
            <a:spAutoFit/>
          </a:bodyPr>
          <a:lstStyle/>
          <a:p>
            <a:pPr algn="l"/>
            <a:r>
              <a:rPr sz="1600" b="0">
                <a:solidFill>
                  <a:srgbClr val="222B33"/>
                </a:solidFill>
                <a:latin typeface="Calibri"/>
              </a:rPr>
              <a:t>No other VM running; target offline and reverted before any dump.</a:t>
            </a:r>
          </a:p>
        </p:txBody>
      </p:sp>
      <p:sp>
        <p:nvSpPr>
          <p:cNvPr id="8" name="Rounded Rectangle 7"/>
          <p:cNvSpPr/>
          <p:nvPr/>
        </p:nvSpPr>
        <p:spPr>
          <a:xfrm>
            <a:off x="6217920" y="1371600"/>
            <a:ext cx="5394960" cy="219456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355080" y="1463040"/>
            <a:ext cx="5120640" cy="411480"/>
          </a:xfrm>
          <a:prstGeom prst="rect">
            <a:avLst/>
          </a:prstGeom>
          <a:noFill/>
        </p:spPr>
        <p:txBody>
          <a:bodyPr wrap="square" anchor="t" lIns="45720" rIns="45720">
            <a:spAutoFit/>
          </a:bodyPr>
          <a:lstStyle/>
          <a:p>
            <a:pPr algn="l"/>
            <a:r>
              <a:rPr sz="1600" b="1">
                <a:solidFill>
                  <a:srgbClr val="0B6B74"/>
                </a:solidFill>
                <a:latin typeface="Calibri"/>
              </a:rPr>
              <a:t>Isolation</a:t>
            </a:r>
          </a:p>
        </p:txBody>
      </p:sp>
      <p:sp>
        <p:nvSpPr>
          <p:cNvPr id="10" name="TextBox 9"/>
          <p:cNvSpPr txBox="1"/>
          <p:nvPr/>
        </p:nvSpPr>
        <p:spPr>
          <a:xfrm>
            <a:off x="6355080" y="1874519"/>
            <a:ext cx="5120640" cy="1600200"/>
          </a:xfrm>
          <a:prstGeom prst="rect">
            <a:avLst/>
          </a:prstGeom>
          <a:noFill/>
        </p:spPr>
        <p:txBody>
          <a:bodyPr wrap="square" anchor="t" lIns="45720" rIns="45720">
            <a:spAutoFit/>
          </a:bodyPr>
          <a:lstStyle/>
          <a:p>
            <a:pPr algn="l"/>
            <a:r>
              <a:rPr sz="1600" b="0">
                <a:solidFill>
                  <a:srgbClr val="222B33"/>
                </a:solidFill>
                <a:latin typeface="Calibri"/>
              </a:rPr>
              <a:t>Target VM has no network; snapshot revert before every run.</a:t>
            </a:r>
          </a:p>
        </p:txBody>
      </p:sp>
      <p:sp>
        <p:nvSpPr>
          <p:cNvPr id="11" name="Rounded Rectangle 10"/>
          <p:cNvSpPr/>
          <p:nvPr/>
        </p:nvSpPr>
        <p:spPr>
          <a:xfrm>
            <a:off x="548640" y="3749039"/>
            <a:ext cx="5486400" cy="228600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3840479"/>
            <a:ext cx="5212080" cy="411480"/>
          </a:xfrm>
          <a:prstGeom prst="rect">
            <a:avLst/>
          </a:prstGeom>
          <a:noFill/>
        </p:spPr>
        <p:txBody>
          <a:bodyPr wrap="square" anchor="t" lIns="45720" rIns="45720">
            <a:spAutoFit/>
          </a:bodyPr>
          <a:lstStyle/>
          <a:p>
            <a:pPr algn="l"/>
            <a:r>
              <a:rPr sz="1600" b="1">
                <a:solidFill>
                  <a:srgbClr val="0B6B74"/>
                </a:solidFill>
                <a:latin typeface="Calibri"/>
              </a:rPr>
              <a:t>Rootkit guard</a:t>
            </a:r>
          </a:p>
        </p:txBody>
      </p:sp>
      <p:sp>
        <p:nvSpPr>
          <p:cNvPr id="13" name="TextBox 12"/>
          <p:cNvSpPr txBox="1"/>
          <p:nvPr/>
        </p:nvSpPr>
        <p:spPr>
          <a:xfrm>
            <a:off x="685800" y="4251959"/>
            <a:ext cx="5212080" cy="1691640"/>
          </a:xfrm>
          <a:prstGeom prst="rect">
            <a:avLst/>
          </a:prstGeom>
          <a:noFill/>
        </p:spPr>
        <p:txBody>
          <a:bodyPr wrap="square" anchor="t" lIns="45720" rIns="45720">
            <a:spAutoFit/>
          </a:bodyPr>
          <a:lstStyle/>
          <a:p>
            <a:pPr algn="l"/>
            <a:r>
              <a:rPr sz="1600" b="0">
                <a:solidFill>
                  <a:srgbClr val="222B33"/>
                </a:solidFill>
                <a:latin typeface="Calibri"/>
              </a:rPr>
              <a:t>Optional test, only inside the isolated target. No real malware.</a:t>
            </a:r>
          </a:p>
        </p:txBody>
      </p:sp>
      <p:sp>
        <p:nvSpPr>
          <p:cNvPr id="14" name="Rounded Rectangle 13"/>
          <p:cNvSpPr/>
          <p:nvPr/>
        </p:nvSpPr>
        <p:spPr>
          <a:xfrm>
            <a:off x="6217920" y="3749039"/>
            <a:ext cx="5394960" cy="228600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3840479"/>
            <a:ext cx="5120640" cy="411480"/>
          </a:xfrm>
          <a:prstGeom prst="rect">
            <a:avLst/>
          </a:prstGeom>
          <a:noFill/>
        </p:spPr>
        <p:txBody>
          <a:bodyPr wrap="square" anchor="t" lIns="45720" rIns="45720">
            <a:spAutoFit/>
          </a:bodyPr>
          <a:lstStyle/>
          <a:p>
            <a:pPr algn="l"/>
            <a:r>
              <a:rPr sz="1600" b="1">
                <a:solidFill>
                  <a:srgbClr val="0B6B74"/>
                </a:solidFill>
                <a:latin typeface="Calibri"/>
              </a:rPr>
              <a:t>Data safety</a:t>
            </a:r>
          </a:p>
        </p:txBody>
      </p:sp>
      <p:sp>
        <p:nvSpPr>
          <p:cNvPr id="16" name="TextBox 15"/>
          <p:cNvSpPr txBox="1"/>
          <p:nvPr/>
        </p:nvSpPr>
        <p:spPr>
          <a:xfrm>
            <a:off x="6355080" y="4251959"/>
            <a:ext cx="5120640" cy="1691640"/>
          </a:xfrm>
          <a:prstGeom prst="rect">
            <a:avLst/>
          </a:prstGeom>
          <a:noFill/>
        </p:spPr>
        <p:txBody>
          <a:bodyPr wrap="square" anchor="t" lIns="45720" rIns="45720">
            <a:spAutoFit/>
          </a:bodyPr>
          <a:lstStyle/>
          <a:p>
            <a:pPr algn="l"/>
            <a:r>
              <a:rPr sz="1600" b="0">
                <a:solidFill>
                  <a:srgbClr val="222B33"/>
                </a:solidFill>
                <a:latin typeface="Calibri"/>
              </a:rPr>
              <a:t>Synthetic secrets only. All files stay in the project folder.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Status and limitations</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10</a:t>
            </a:r>
          </a:p>
        </p:txBody>
      </p:sp>
      <p:graphicFrame>
        <p:nvGraphicFramePr>
          <p:cNvPr id="5" name="Table 4"/>
          <p:cNvGraphicFramePr>
            <a:graphicFrameLocks noGrp="1"/>
          </p:cNvGraphicFramePr>
          <p:nvPr/>
        </p:nvGraphicFramePr>
        <p:xfrm>
          <a:off x="548640" y="1280160"/>
          <a:ext cx="5669280" cy="2468880"/>
        </p:xfrm>
        <a:graphic>
          <a:graphicData uri="http://schemas.openxmlformats.org/drawingml/2006/table">
            <a:tbl>
              <a:tblPr firstRow="1" bandRow="1">
                <a:tableStyleId>{5C22544A-7EE6-4342-B048-85BDC9FD1C3A}</a:tableStyleId>
              </a:tblPr>
              <a:tblGrid>
                <a:gridCol w="2011680"/>
                <a:gridCol w="1463040"/>
                <a:gridCol w="2194560"/>
              </a:tblGrid>
              <a:tr h="411480">
                <a:tc>
                  <a:txBody>
                    <a:bodyPr wrap="square"/>
                    <a:lstStyle/>
                    <a:p>
                      <a:r>
                        <a:rPr sz="1400" b="1">
                          <a:solidFill>
                            <a:srgbClr val="FFFFFF"/>
                          </a:solidFill>
                          <a:latin typeface="Calibri"/>
                        </a:rPr>
                        <a:t>Part</a:t>
                      </a:r>
                    </a:p>
                  </a:txBody>
                  <a:tcPr marL="73152" marR="73152" marT="27432" marB="27432" anchor="ctr">
                    <a:solidFill>
                      <a:srgbClr val="142B3F"/>
                    </a:solidFill>
                  </a:tcPr>
                </a:tc>
                <a:tc>
                  <a:txBody>
                    <a:bodyPr wrap="square"/>
                    <a:lstStyle/>
                    <a:p>
                      <a:r>
                        <a:rPr sz="1400" b="1">
                          <a:solidFill>
                            <a:srgbClr val="FFFFFF"/>
                          </a:solidFill>
                          <a:latin typeface="Calibri"/>
                        </a:rPr>
                        <a:t>Built</a:t>
                      </a:r>
                    </a:p>
                  </a:txBody>
                  <a:tcPr marL="73152" marR="73152" marT="27432" marB="27432" anchor="ctr">
                    <a:solidFill>
                      <a:srgbClr val="142B3F"/>
                    </a:solidFill>
                  </a:tcPr>
                </a:tc>
                <a:tc>
                  <a:txBody>
                    <a:bodyPr wrap="square"/>
                    <a:lstStyle/>
                    <a:p>
                      <a:r>
                        <a:rPr sz="1400" b="1">
                          <a:solidFill>
                            <a:srgbClr val="FFFFFF"/>
                          </a:solidFill>
                          <a:latin typeface="Calibri"/>
                        </a:rPr>
                        <a:t>Real data</a:t>
                      </a:r>
                    </a:p>
                  </a:txBody>
                  <a:tcPr marL="73152" marR="73152" marT="27432" marB="27432" anchor="ctr">
                    <a:solidFill>
                      <a:srgbClr val="142B3F"/>
                    </a:solidFill>
                  </a:tcPr>
                </a:tc>
              </a:tr>
              <a:tr h="411480">
                <a:tc>
                  <a:txBody>
                    <a:bodyPr wrap="square"/>
                    <a:lstStyle/>
                    <a:p>
                      <a:r>
                        <a:rPr sz="1400" b="0">
                          <a:solidFill>
                            <a:srgbClr val="222B33"/>
                          </a:solidFill>
                          <a:latin typeface="Calibri"/>
                        </a:rPr>
                        <a:t>Framework</a:t>
                      </a:r>
                    </a:p>
                  </a:txBody>
                  <a:tcPr marL="73152" marR="73152" marT="27432" marB="27432" anchor="ctr">
                    <a:solidFill>
                      <a:srgbClr val="EAF3F4"/>
                    </a:solidFill>
                  </a:tcPr>
                </a:tc>
                <a:tc>
                  <a:txBody>
                    <a:bodyPr wrap="square"/>
                    <a:lstStyle/>
                    <a:p>
                      <a:r>
                        <a:rPr sz="1400" b="0">
                          <a:solidFill>
                            <a:srgbClr val="222B33"/>
                          </a:solidFill>
                          <a:latin typeface="Calibri"/>
                        </a:rPr>
                        <a:t>yes</a:t>
                      </a:r>
                    </a:p>
                  </a:txBody>
                  <a:tcPr marL="73152" marR="73152" marT="27432" marB="27432" anchor="ctr">
                    <a:solidFill>
                      <a:srgbClr val="EAF3F4"/>
                    </a:solidFill>
                  </a:tcPr>
                </a:tc>
                <a:tc>
                  <a:txBody>
                    <a:bodyPr wrap="square"/>
                    <a:lstStyle/>
                    <a:p>
                      <a:r>
                        <a:rPr sz="1400" b="0">
                          <a:solidFill>
                            <a:srgbClr val="222B33"/>
                          </a:solidFill>
                          <a:latin typeface="Calibri"/>
                        </a:rPr>
                        <a:t>n/a</a:t>
                      </a:r>
                    </a:p>
                  </a:txBody>
                  <a:tcPr marL="73152" marR="73152" marT="27432" marB="27432" anchor="ctr">
                    <a:solidFill>
                      <a:srgbClr val="EAF3F4"/>
                    </a:solidFill>
                  </a:tcPr>
                </a:tc>
              </a:tr>
              <a:tr h="411480">
                <a:tc>
                  <a:txBody>
                    <a:bodyPr wrap="square"/>
                    <a:lstStyle/>
                    <a:p>
                      <a:r>
                        <a:rPr sz="1400" b="0">
                          <a:solidFill>
                            <a:srgbClr val="222B33"/>
                          </a:solidFill>
                          <a:latin typeface="Calibri"/>
                        </a:rPr>
                        <a:t>M1</a:t>
                      </a:r>
                    </a:p>
                  </a:txBody>
                  <a:tcPr marL="73152" marR="73152" marT="27432" marB="27432" anchor="ctr">
                    <a:solidFill>
                      <a:srgbClr val="FFFFFF"/>
                    </a:solidFill>
                  </a:tcPr>
                </a:tc>
                <a:tc>
                  <a:txBody>
                    <a:bodyPr wrap="square"/>
                    <a:lstStyle/>
                    <a:p>
                      <a:r>
                        <a:rPr sz="1400" b="0">
                          <a:solidFill>
                            <a:srgbClr val="222B33"/>
                          </a:solidFill>
                          <a:latin typeface="Calibri"/>
                        </a:rPr>
                        <a:t>yes</a:t>
                      </a:r>
                    </a:p>
                  </a:txBody>
                  <a:tcPr marL="73152" marR="73152" marT="27432" marB="27432" anchor="ctr">
                    <a:solidFill>
                      <a:srgbClr val="FFFFFF"/>
                    </a:solidFill>
                  </a:tcPr>
                </a:tc>
                <a:tc>
                  <a:txBody>
                    <a:bodyPr wrap="square"/>
                    <a:lstStyle/>
                    <a:p>
                      <a:r>
                        <a:rPr sz="1400" b="0">
                          <a:solidFill>
                            <a:srgbClr val="222B33"/>
                          </a:solidFill>
                          <a:latin typeface="Calibri"/>
                        </a:rPr>
                        <a:t>fixtures only</a:t>
                      </a:r>
                    </a:p>
                  </a:txBody>
                  <a:tcPr marL="73152" marR="73152" marT="27432" marB="27432" anchor="ctr">
                    <a:solidFill>
                      <a:srgbClr val="FFFFFF"/>
                    </a:solidFill>
                  </a:tcPr>
                </a:tc>
              </a:tr>
              <a:tr h="411480">
                <a:tc>
                  <a:txBody>
                    <a:bodyPr wrap="square"/>
                    <a:lstStyle/>
                    <a:p>
                      <a:r>
                        <a:rPr sz="1400" b="0">
                          <a:solidFill>
                            <a:srgbClr val="222B33"/>
                          </a:solidFill>
                          <a:latin typeface="Calibri"/>
                        </a:rPr>
                        <a:t>M2</a:t>
                      </a:r>
                    </a:p>
                  </a:txBody>
                  <a:tcPr marL="73152" marR="73152" marT="27432" marB="27432" anchor="ctr">
                    <a:solidFill>
                      <a:srgbClr val="EAF3F4"/>
                    </a:solidFill>
                  </a:tcPr>
                </a:tc>
                <a:tc>
                  <a:txBody>
                    <a:bodyPr wrap="square"/>
                    <a:lstStyle/>
                    <a:p>
                      <a:r>
                        <a:rPr sz="1400" b="0">
                          <a:solidFill>
                            <a:srgbClr val="222B33"/>
                          </a:solidFill>
                          <a:latin typeface="Calibri"/>
                        </a:rPr>
                        <a:t>yes</a:t>
                      </a:r>
                    </a:p>
                  </a:txBody>
                  <a:tcPr marL="73152" marR="73152" marT="27432" marB="27432" anchor="ctr">
                    <a:solidFill>
                      <a:srgbClr val="EAF3F4"/>
                    </a:solidFill>
                  </a:tcPr>
                </a:tc>
                <a:tc>
                  <a:txBody>
                    <a:bodyPr wrap="square"/>
                    <a:lstStyle/>
                    <a:p>
                      <a:r>
                        <a:rPr sz="1400" b="0">
                          <a:solidFill>
                            <a:srgbClr val="222B33"/>
                          </a:solidFill>
                          <a:latin typeface="Calibri"/>
                        </a:rPr>
                        <a:t>none</a:t>
                      </a:r>
                    </a:p>
                  </a:txBody>
                  <a:tcPr marL="73152" marR="73152" marT="27432" marB="27432" anchor="ctr">
                    <a:solidFill>
                      <a:srgbClr val="EAF3F4"/>
                    </a:solidFill>
                  </a:tcPr>
                </a:tc>
              </a:tr>
              <a:tr h="411480">
                <a:tc>
                  <a:txBody>
                    <a:bodyPr wrap="square"/>
                    <a:lstStyle/>
                    <a:p>
                      <a:r>
                        <a:rPr sz="1400" b="0">
                          <a:solidFill>
                            <a:srgbClr val="222B33"/>
                          </a:solidFill>
                          <a:latin typeface="Calibri"/>
                        </a:rPr>
                        <a:t>M3</a:t>
                      </a:r>
                    </a:p>
                  </a:txBody>
                  <a:tcPr marL="73152" marR="73152" marT="27432" marB="27432" anchor="ctr">
                    <a:solidFill>
                      <a:srgbClr val="FFFFFF"/>
                    </a:solidFill>
                  </a:tcPr>
                </a:tc>
                <a:tc>
                  <a:txBody>
                    <a:bodyPr wrap="square"/>
                    <a:lstStyle/>
                    <a:p>
                      <a:r>
                        <a:rPr sz="1400" b="0">
                          <a:solidFill>
                            <a:srgbClr val="222B33"/>
                          </a:solidFill>
                          <a:latin typeface="Calibri"/>
                        </a:rPr>
                        <a:t>yes</a:t>
                      </a:r>
                    </a:p>
                  </a:txBody>
                  <a:tcPr marL="73152" marR="73152" marT="27432" marB="27432" anchor="ctr">
                    <a:solidFill>
                      <a:srgbClr val="FFFFFF"/>
                    </a:solidFill>
                  </a:tcPr>
                </a:tc>
                <a:tc>
                  <a:txBody>
                    <a:bodyPr wrap="square"/>
                    <a:lstStyle/>
                    <a:p>
                      <a:r>
                        <a:rPr sz="1400" b="0">
                          <a:solidFill>
                            <a:srgbClr val="222B33"/>
                          </a:solidFill>
                          <a:latin typeface="Calibri"/>
                        </a:rPr>
                        <a:t>none</a:t>
                      </a:r>
                    </a:p>
                  </a:txBody>
                  <a:tcPr marL="73152" marR="73152" marT="27432" marB="27432" anchor="ctr">
                    <a:solidFill>
                      <a:srgbClr val="FFFFFF"/>
                    </a:solidFill>
                  </a:tcPr>
                </a:tc>
              </a:tr>
              <a:tr h="411480">
                <a:tc>
                  <a:txBody>
                    <a:bodyPr wrap="square"/>
                    <a:lstStyle/>
                    <a:p>
                      <a:r>
                        <a:rPr sz="1400" b="0">
                          <a:solidFill>
                            <a:srgbClr val="222B33"/>
                          </a:solidFill>
                          <a:latin typeface="Calibri"/>
                        </a:rPr>
                        <a:t>M4</a:t>
                      </a:r>
                    </a:p>
                  </a:txBody>
                  <a:tcPr marL="73152" marR="73152" marT="27432" marB="27432" anchor="ctr">
                    <a:solidFill>
                      <a:srgbClr val="EAF3F4"/>
                    </a:solidFill>
                  </a:tcPr>
                </a:tc>
                <a:tc>
                  <a:txBody>
                    <a:bodyPr wrap="square"/>
                    <a:lstStyle/>
                    <a:p>
                      <a:r>
                        <a:rPr sz="1400" b="0">
                          <a:solidFill>
                            <a:srgbClr val="222B33"/>
                          </a:solidFill>
                          <a:latin typeface="Calibri"/>
                        </a:rPr>
                        <a:t>yes</a:t>
                      </a:r>
                    </a:p>
                  </a:txBody>
                  <a:tcPr marL="73152" marR="73152" marT="27432" marB="27432" anchor="ctr">
                    <a:solidFill>
                      <a:srgbClr val="EAF3F4"/>
                    </a:solidFill>
                  </a:tcPr>
                </a:tc>
                <a:tc>
                  <a:txBody>
                    <a:bodyPr wrap="square"/>
                    <a:lstStyle/>
                    <a:p>
                      <a:r>
                        <a:rPr sz="1400" b="0">
                          <a:solidFill>
                            <a:srgbClr val="222B33"/>
                          </a:solidFill>
                          <a:latin typeface="Calibri"/>
                        </a:rPr>
                        <a:t>none</a:t>
                      </a:r>
                    </a:p>
                  </a:txBody>
                  <a:tcPr marL="73152" marR="73152" marT="27432" marB="27432" anchor="ctr">
                    <a:solidFill>
                      <a:srgbClr val="EAF3F4"/>
                    </a:solidFill>
                  </a:tcPr>
                </a:tc>
              </a:tr>
            </a:tbl>
          </a:graphicData>
        </a:graphic>
      </p:graphicFrame>
      <p:sp>
        <p:nvSpPr>
          <p:cNvPr id="6" name="TextBox 5"/>
          <p:cNvSpPr txBox="1"/>
          <p:nvPr/>
        </p:nvSpPr>
        <p:spPr>
          <a:xfrm>
            <a:off x="6583680" y="1280160"/>
            <a:ext cx="5029200" cy="2743200"/>
          </a:xfrm>
          <a:prstGeom prst="rect">
            <a:avLst/>
          </a:prstGeom>
          <a:noFill/>
        </p:spPr>
        <p:txBody>
          <a:bodyPr wrap="square">
            <a:spAutoFit/>
          </a:bodyPr>
          <a:lstStyle/>
          <a:p>
            <a:pPr>
              <a:spcAft>
                <a:spcPts val="900"/>
              </a:spcAft>
            </a:pPr>
            <a:r>
              <a:rPr b="1" sz="1600">
                <a:solidFill>
                  <a:srgbClr val="0B6B74"/>
                </a:solidFill>
                <a:latin typeface="Calibri"/>
              </a:rPr>
              <a:t>One PC </a:t>
            </a:r>
            <a:r>
              <a:rPr sz="1600">
                <a:solidFill>
                  <a:srgbClr val="222B33"/>
                </a:solidFill>
                <a:latin typeface="Calibri"/>
              </a:rPr>
              <a:t>one CPU model</a:t>
            </a:r>
          </a:p>
          <a:p>
            <a:pPr>
              <a:spcAft>
                <a:spcPts val="900"/>
              </a:spcAft>
            </a:pPr>
            <a:r>
              <a:rPr b="1" sz="1600">
                <a:solidFill>
                  <a:srgbClr val="0B6B74"/>
                </a:solidFill>
                <a:latin typeface="Calibri"/>
              </a:rPr>
              <a:t>Not a real VMBR </a:t>
            </a:r>
            <a:r>
              <a:rPr sz="1600">
                <a:solidFill>
                  <a:srgbClr val="222B33"/>
                </a:solidFill>
                <a:latin typeface="Calibri"/>
              </a:rPr>
              <a:t>kvm-masked is full QEMU/KVM</a:t>
            </a:r>
          </a:p>
          <a:p>
            <a:pPr>
              <a:spcAft>
                <a:spcPts val="900"/>
              </a:spcAft>
            </a:pPr>
            <a:r>
              <a:rPr b="1" sz="1600">
                <a:solidFill>
                  <a:srgbClr val="0B6B74"/>
                </a:solidFill>
                <a:latin typeface="Calibri"/>
              </a:rPr>
              <a:t>M1 truth </a:t>
            </a:r>
            <a:r>
              <a:rPr sz="1600">
                <a:solidFill>
                  <a:srgbClr val="222B33"/>
                </a:solidFill>
                <a:latin typeface="Calibri"/>
              </a:rPr>
              <a:t>self-written fixtures</a:t>
            </a:r>
          </a:p>
          <a:p>
            <a:pPr>
              <a:spcAft>
                <a:spcPts val="900"/>
              </a:spcAft>
            </a:pPr>
            <a:r>
              <a:rPr b="1" sz="1600">
                <a:solidFill>
                  <a:srgbClr val="0B6B74"/>
                </a:solidFill>
                <a:latin typeface="Calibri"/>
              </a:rPr>
              <a:t>Config-proxy </a:t>
            </a:r>
            <a:r>
              <a:rPr sz="1600">
                <a:solidFill>
                  <a:srgbClr val="222B33"/>
                </a:solidFill>
                <a:latin typeface="Calibri"/>
              </a:rPr>
              <a:t>four classes</a:t>
            </a:r>
          </a:p>
        </p:txBody>
      </p:sp>
      <p:sp>
        <p:nvSpPr>
          <p:cNvPr id="7" name="Rounded Rectangle 6"/>
          <p:cNvSpPr/>
          <p:nvPr/>
        </p:nvSpPr>
        <p:spPr>
          <a:xfrm>
            <a:off x="548640" y="4023360"/>
            <a:ext cx="11064240" cy="210312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4114800"/>
            <a:ext cx="10698480" cy="1920240"/>
          </a:xfrm>
          <a:prstGeom prst="rect">
            <a:avLst/>
          </a:prstGeom>
          <a:noFill/>
        </p:spPr>
        <p:txBody>
          <a:bodyPr wrap="square" anchor="t" lIns="45720" rIns="45720">
            <a:spAutoFit/>
          </a:bodyPr>
          <a:lstStyle/>
          <a:p>
            <a:pPr algn="l"/>
            <a:r>
              <a:rPr sz="1700" b="0">
                <a:solidFill>
                  <a:srgbClr val="222B33"/>
                </a:solidFill>
                <a:latin typeface="Calibri"/>
              </a:rPr>
              <a:t>1028 tests: Windows 1009 passed, 19 skipped (about 4 min). Linux under WSL2 once: 985 passed, 2 failed (fixed), 1 skipped; not re-run. Not tested on native Linux or a KVM host.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Remaining work, NOT part of this submission</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11</a:t>
            </a:r>
          </a:p>
        </p:txBody>
      </p:sp>
      <p:sp>
        <p:nvSpPr>
          <p:cNvPr id="5" name="Rounded Rectangle 4"/>
          <p:cNvSpPr/>
          <p:nvPr/>
        </p:nvSpPr>
        <p:spPr>
          <a:xfrm>
            <a:off x="548640" y="1280160"/>
            <a:ext cx="11064240" cy="548640"/>
          </a:xfrm>
          <a:prstGeom prst="roundRect">
            <a:avLst>
              <a:gd name="adj" fmla="val 6000"/>
            </a:avLst>
          </a:prstGeom>
          <a:solidFill>
            <a:srgbClr val="FFF1D6"/>
          </a:solidFill>
          <a:ln w="19050">
            <a:solidFill>
              <a:srgbClr val="8A5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10881360" cy="457200"/>
          </a:xfrm>
          <a:prstGeom prst="rect">
            <a:avLst/>
          </a:prstGeom>
          <a:noFill/>
        </p:spPr>
        <p:txBody>
          <a:bodyPr wrap="square" anchor="ctr" lIns="45720" rIns="45720">
            <a:spAutoFit/>
          </a:bodyPr>
          <a:lstStyle/>
          <a:p>
            <a:pPr algn="l"/>
            <a:r>
              <a:rPr sz="1500" b="1">
                <a:solidFill>
                  <a:srgbClr val="8A5000"/>
                </a:solidFill>
                <a:latin typeface="Calibri"/>
              </a:rPr>
              <a:t>Remaining work, NOT part of this submission: E1 not built; no native-vs-VM, M2-dump or Volatility results.</a:t>
            </a:r>
          </a:p>
        </p:txBody>
      </p:sp>
      <p:graphicFrame>
        <p:nvGraphicFramePr>
          <p:cNvPr id="7" name="Table 6"/>
          <p:cNvGraphicFramePr>
            <a:graphicFrameLocks noGrp="1"/>
          </p:cNvGraphicFramePr>
          <p:nvPr/>
        </p:nvGraphicFramePr>
        <p:xfrm>
          <a:off x="548640" y="2103120"/>
          <a:ext cx="7132320" cy="2514600"/>
        </p:xfrm>
        <a:graphic>
          <a:graphicData uri="http://schemas.openxmlformats.org/drawingml/2006/table">
            <a:tbl>
              <a:tblPr firstRow="1" bandRow="1">
                <a:tableStyleId>{5C22544A-7EE6-4342-B048-85BDC9FD1C3A}</a:tableStyleId>
              </a:tblPr>
              <a:tblGrid>
                <a:gridCol w="1371600"/>
                <a:gridCol w="5760720"/>
              </a:tblGrid>
              <a:tr h="502920">
                <a:tc>
                  <a:txBody>
                    <a:bodyPr wrap="square"/>
                    <a:lstStyle/>
                    <a:p>
                      <a:r>
                        <a:rPr sz="1400" b="1">
                          <a:solidFill>
                            <a:srgbClr val="FFFFFF"/>
                          </a:solidFill>
                          <a:latin typeface="Calibri"/>
                        </a:rPr>
                        <a:t>Week</a:t>
                      </a:r>
                    </a:p>
                  </a:txBody>
                  <a:tcPr marL="73152" marR="73152" marT="27432" marB="27432" anchor="ctr">
                    <a:solidFill>
                      <a:srgbClr val="142B3F"/>
                    </a:solidFill>
                  </a:tcPr>
                </a:tc>
                <a:tc>
                  <a:txBody>
                    <a:bodyPr wrap="square"/>
                    <a:lstStyle/>
                    <a:p>
                      <a:r>
                        <a:rPr sz="1400" b="1">
                          <a:solidFill>
                            <a:srgbClr val="FFFFFF"/>
                          </a:solidFill>
                          <a:latin typeface="Calibri"/>
                        </a:rPr>
                        <a:t>Planned work</a:t>
                      </a:r>
                    </a:p>
                  </a:txBody>
                  <a:tcPr marL="73152" marR="73152" marT="27432" marB="27432" anchor="ctr">
                    <a:solidFill>
                      <a:srgbClr val="142B3F"/>
                    </a:solidFill>
                  </a:tcPr>
                </a:tc>
              </a:tr>
              <a:tr h="502920">
                <a:tc>
                  <a:txBody>
                    <a:bodyPr wrap="square"/>
                    <a:lstStyle/>
                    <a:p>
                      <a:r>
                        <a:rPr sz="1400" b="0">
                          <a:solidFill>
                            <a:srgbClr val="222B33"/>
                          </a:solidFill>
                          <a:latin typeface="Calibri"/>
                        </a:rPr>
                        <a:t>W1-W2</a:t>
                      </a:r>
                    </a:p>
                  </a:txBody>
                  <a:tcPr marL="73152" marR="73152" marT="27432" marB="27432" anchor="ctr">
                    <a:solidFill>
                      <a:srgbClr val="EAF3F4"/>
                    </a:solidFill>
                  </a:tcPr>
                </a:tc>
                <a:tc>
                  <a:txBody>
                    <a:bodyPr wrap="square"/>
                    <a:lstStyle/>
                    <a:p>
                      <a:r>
                        <a:rPr sz="1400" b="0">
                          <a:solidFill>
                            <a:srgbClr val="222B33"/>
                          </a:solidFill>
                          <a:latin typeface="Calibri"/>
                        </a:rPr>
                        <a:t>Build E1; pilot; commit and tag prereg.md</a:t>
                      </a:r>
                    </a:p>
                  </a:txBody>
                  <a:tcPr marL="73152" marR="73152" marT="27432" marB="27432" anchor="ctr">
                    <a:solidFill>
                      <a:srgbClr val="EAF3F4"/>
                    </a:solidFill>
                  </a:tcPr>
                </a:tc>
              </a:tr>
              <a:tr h="502920">
                <a:tc>
                  <a:txBody>
                    <a:bodyPr wrap="square"/>
                    <a:lstStyle/>
                    <a:p>
                      <a:r>
                        <a:rPr sz="1400" b="0">
                          <a:solidFill>
                            <a:srgbClr val="222B33"/>
                          </a:solidFill>
                          <a:latin typeface="Calibri"/>
                        </a:rPr>
                        <a:t>W3-W5</a:t>
                      </a:r>
                    </a:p>
                  </a:txBody>
                  <a:tcPr marL="73152" marR="73152" marT="27432" marB="27432" anchor="ctr">
                    <a:solidFill>
                      <a:srgbClr val="FFFFFF"/>
                    </a:solidFill>
                  </a:tcPr>
                </a:tc>
                <a:tc>
                  <a:txBody>
                    <a:bodyPr wrap="square"/>
                    <a:lstStyle/>
                    <a:p>
                      <a:r>
                        <a:rPr sz="1400" b="0">
                          <a:solidFill>
                            <a:srgbClr val="222B33"/>
                          </a:solidFill>
                          <a:latin typeface="Calibri"/>
                        </a:rPr>
                        <a:t>Collect 45 boots; M1 and M2 evaluation</a:t>
                      </a:r>
                    </a:p>
                  </a:txBody>
                  <a:tcPr marL="73152" marR="73152" marT="27432" marB="27432" anchor="ctr">
                    <a:solidFill>
                      <a:srgbClr val="FFFFFF"/>
                    </a:solidFill>
                  </a:tcPr>
                </a:tc>
              </a:tr>
              <a:tr h="502920">
                <a:tc>
                  <a:txBody>
                    <a:bodyPr wrap="square"/>
                    <a:lstStyle/>
                    <a:p>
                      <a:r>
                        <a:rPr sz="1400" b="0">
                          <a:solidFill>
                            <a:srgbClr val="222B33"/>
                          </a:solidFill>
                          <a:latin typeface="Calibri"/>
                        </a:rPr>
                        <a:t>W6-W7</a:t>
                      </a:r>
                    </a:p>
                  </a:txBody>
                  <a:tcPr marL="73152" marR="73152" marT="27432" marB="27432" anchor="ctr">
                    <a:solidFill>
                      <a:srgbClr val="EAF3F4"/>
                    </a:solidFill>
                  </a:tcPr>
                </a:tc>
                <a:tc>
                  <a:txBody>
                    <a:bodyPr wrap="square"/>
                    <a:lstStyle/>
                    <a:p>
                      <a:r>
                        <a:rPr sz="1400" b="0">
                          <a:solidFill>
                            <a:srgbClr val="222B33"/>
                          </a:solidFill>
                          <a:latin typeface="Calibri"/>
                        </a:rPr>
                        <a:t>Analyse H1 to H4; M3 clean dumps</a:t>
                      </a:r>
                    </a:p>
                  </a:txBody>
                  <a:tcPr marL="73152" marR="73152" marT="27432" marB="27432" anchor="ctr">
                    <a:solidFill>
                      <a:srgbClr val="EAF3F4"/>
                    </a:solidFill>
                  </a:tcPr>
                </a:tc>
              </a:tr>
              <a:tr h="502920">
                <a:tc>
                  <a:txBody>
                    <a:bodyPr wrap="square"/>
                    <a:lstStyle/>
                    <a:p>
                      <a:r>
                        <a:rPr sz="1400" b="0">
                          <a:solidFill>
                            <a:srgbClr val="222B33"/>
                          </a:solidFill>
                          <a:latin typeface="Calibri"/>
                        </a:rPr>
                        <a:t>W8</a:t>
                      </a:r>
                    </a:p>
                  </a:txBody>
                  <a:tcPr marL="73152" marR="73152" marT="27432" marB="27432" anchor="ctr">
                    <a:solidFill>
                      <a:srgbClr val="FFFFFF"/>
                    </a:solidFill>
                  </a:tcPr>
                </a:tc>
                <a:tc>
                  <a:txBody>
                    <a:bodyPr wrap="square"/>
                    <a:lstStyle/>
                    <a:p>
                      <a:r>
                        <a:rPr sz="1400" b="0">
                          <a:solidFill>
                            <a:srgbClr val="222B33"/>
                          </a:solidFill>
                          <a:latin typeface="Calibri"/>
                        </a:rPr>
                        <a:t>Paper, slides, demo video</a:t>
                      </a:r>
                    </a:p>
                  </a:txBody>
                  <a:tcPr marL="73152" marR="73152" marT="27432" marB="27432" anchor="ctr">
                    <a:solidFill>
                      <a:srgbClr val="FFFFFF"/>
                    </a:solidFill>
                  </a:tcPr>
                </a:tc>
              </a:tr>
            </a:tbl>
          </a:graphicData>
        </a:graphic>
      </p:graphicFrame>
      <p:sp>
        <p:nvSpPr>
          <p:cNvPr id="8" name="Rounded Rectangle 7"/>
          <p:cNvSpPr/>
          <p:nvPr/>
        </p:nvSpPr>
        <p:spPr>
          <a:xfrm>
            <a:off x="7955279" y="2103120"/>
            <a:ext cx="3657600" cy="251460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2194560"/>
            <a:ext cx="3383280" cy="411480"/>
          </a:xfrm>
          <a:prstGeom prst="rect">
            <a:avLst/>
          </a:prstGeom>
          <a:noFill/>
        </p:spPr>
        <p:txBody>
          <a:bodyPr wrap="square" anchor="t" lIns="45720" rIns="45720">
            <a:spAutoFit/>
          </a:bodyPr>
          <a:lstStyle/>
          <a:p>
            <a:pPr algn="l"/>
            <a:r>
              <a:rPr sz="1600" b="1">
                <a:solidFill>
                  <a:srgbClr val="0B6B74"/>
                </a:solidFill>
                <a:latin typeface="Calibri"/>
              </a:rPr>
              <a:t>Also not done</a:t>
            </a:r>
          </a:p>
        </p:txBody>
      </p:sp>
      <p:sp>
        <p:nvSpPr>
          <p:cNvPr id="10" name="TextBox 9"/>
          <p:cNvSpPr txBox="1"/>
          <p:nvPr/>
        </p:nvSpPr>
        <p:spPr>
          <a:xfrm>
            <a:off x="8092440" y="2606039"/>
            <a:ext cx="3383280" cy="1920240"/>
          </a:xfrm>
          <a:prstGeom prst="rect">
            <a:avLst/>
          </a:prstGeom>
          <a:noFill/>
        </p:spPr>
        <p:txBody>
          <a:bodyPr wrap="square" anchor="t" lIns="45720" rIns="45720">
            <a:spAutoFit/>
          </a:bodyPr>
          <a:lstStyle/>
          <a:p>
            <a:pPr algn="l"/>
            <a:r>
              <a:rPr sz="1500" b="0">
                <a:solidFill>
                  <a:srgbClr val="222B33"/>
                </a:solidFill>
                <a:latin typeface="Calibri"/>
              </a:rPr>
              <a:t>Lynis and OpenSCAP (independent config scanners): planned, never run.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How this was made, and questions</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12</a:t>
            </a:r>
          </a:p>
        </p:txBody>
      </p:sp>
      <p:sp>
        <p:nvSpPr>
          <p:cNvPr id="5" name="Rounded Rectangle 4"/>
          <p:cNvSpPr/>
          <p:nvPr/>
        </p:nvSpPr>
        <p:spPr>
          <a:xfrm>
            <a:off x="548640" y="1280160"/>
            <a:ext cx="11064240" cy="393192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10698480" cy="3749039"/>
          </a:xfrm>
          <a:prstGeom prst="rect">
            <a:avLst/>
          </a:prstGeom>
          <a:noFill/>
        </p:spPr>
        <p:txBody>
          <a:bodyPr wrap="square">
            <a:spAutoFit/>
          </a:bodyPr>
          <a:lstStyle/>
          <a:p>
            <a:pPr>
              <a:spcAft>
                <a:spcPts val="900"/>
              </a:spcAft>
            </a:pPr>
            <a:r>
              <a:rPr b="1" sz="1800">
                <a:solidFill>
                  <a:srgbClr val="0B6B74"/>
                </a:solidFill>
                <a:latin typeface="Calibri"/>
              </a:rPr>
              <a:t>Who </a:t>
            </a:r>
            <a:r>
              <a:rPr sz="1800">
                <a:solidFill>
                  <a:srgbClr val="222B33"/>
                </a:solidFill>
                <a:latin typeface="Calibri"/>
              </a:rPr>
              <a:t>one student with an AI assistant (Claude) that produced most code, tests, documents and first drafts</a:t>
            </a:r>
          </a:p>
          <a:p>
            <a:pPr>
              <a:spcAft>
                <a:spcPts val="900"/>
              </a:spcAft>
            </a:pPr>
            <a:r>
              <a:rPr b="1" sz="1800">
                <a:solidFill>
                  <a:srgbClr val="0B6B74"/>
                </a:solidFill>
                <a:latin typeface="Calibri"/>
              </a:rPr>
              <a:t>Reviews </a:t>
            </a:r>
            <a:r>
              <a:rPr sz="1800">
                <a:solidFill>
                  <a:srgbClr val="222B33"/>
                </a:solidFill>
                <a:latin typeface="Calibri"/>
              </a:rPr>
              <a:t>AI agents only; no human review</a:t>
            </a:r>
          </a:p>
          <a:p>
            <a:pPr>
              <a:spcAft>
                <a:spcPts val="900"/>
              </a:spcAft>
            </a:pPr>
            <a:r>
              <a:rPr b="1" sz="1800">
                <a:solidFill>
                  <a:srgbClr val="0B6B74"/>
                </a:solidFill>
                <a:latin typeface="Calibri"/>
              </a:rPr>
              <a:t>Tests </a:t>
            </a:r>
            <a:r>
              <a:rPr sz="1800">
                <a:solidFill>
                  <a:srgbClr val="222B33"/>
                </a:solidFill>
                <a:latin typeface="Calibri"/>
              </a:rPr>
              <a:t>show internal consistency, not correctness</a:t>
            </a:r>
          </a:p>
          <a:p>
            <a:pPr>
              <a:spcAft>
                <a:spcPts val="900"/>
              </a:spcAft>
            </a:pPr>
            <a:r>
              <a:rPr b="1" sz="1800">
                <a:solidFill>
                  <a:srgbClr val="0B6B74"/>
                </a:solidFill>
                <a:latin typeface="Calibri"/>
              </a:rPr>
              <a:t>Results </a:t>
            </a:r>
            <a:r>
              <a:rPr sz="1800">
                <a:solidFill>
                  <a:srgbClr val="222B33"/>
                </a:solidFill>
                <a:latin typeface="Calibri"/>
              </a:rPr>
              <a:t>no real measurements; simulated numbers are not results</a:t>
            </a:r>
          </a:p>
          <a:p>
            <a:pPr>
              <a:spcAft>
                <a:spcPts val="900"/>
              </a:spcAft>
            </a:pPr>
            <a:r>
              <a:rPr b="1" sz="1800">
                <a:solidFill>
                  <a:srgbClr val="0B6B74"/>
                </a:solidFill>
                <a:latin typeface="Calibri"/>
              </a:rPr>
              <a:t>Plan </a:t>
            </a:r>
            <a:r>
              <a:rPr sz="1800">
                <a:solidFill>
                  <a:srgbClr val="222B33"/>
                </a:solidFill>
                <a:latin typeface="Calibri"/>
              </a:rPr>
              <a:t>prereg.md is a draft, not yet committed</a:t>
            </a:r>
          </a:p>
        </p:txBody>
      </p:sp>
      <p:sp>
        <p:nvSpPr>
          <p:cNvPr id="7" name="TextBox 6"/>
          <p:cNvSpPr txBox="1"/>
          <p:nvPr/>
        </p:nvSpPr>
        <p:spPr>
          <a:xfrm>
            <a:off x="548640" y="5440680"/>
            <a:ext cx="11064240" cy="640080"/>
          </a:xfrm>
          <a:prstGeom prst="rect">
            <a:avLst/>
          </a:prstGeom>
          <a:noFill/>
        </p:spPr>
        <p:txBody>
          <a:bodyPr wrap="square" anchor="t" lIns="45720" rIns="45720">
            <a:spAutoFit/>
          </a:bodyPr>
          <a:lstStyle/>
          <a:p>
            <a:pPr algn="l"/>
            <a:r>
              <a:rPr sz="2800" b="1">
                <a:solidFill>
                  <a:srgbClr val="0B6B74"/>
                </a:solidFill>
                <a:latin typeface="Calibri"/>
              </a:rPr>
              <a:t>Thank you. Questions?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Backup: finding format and result matrix</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13</a:t>
            </a:r>
          </a:p>
        </p:txBody>
      </p:sp>
      <p:sp>
        <p:nvSpPr>
          <p:cNvPr id="5" name="Rounded Rectangle 4"/>
          <p:cNvSpPr/>
          <p:nvPr/>
        </p:nvSpPr>
        <p:spPr>
          <a:xfrm>
            <a:off x="548640" y="1280160"/>
            <a:ext cx="5486400" cy="3017520"/>
          </a:xfrm>
          <a:prstGeom prst="roundRect">
            <a:avLst>
              <a:gd name="adj" fmla="val 6000"/>
            </a:avLst>
          </a:prstGeom>
          <a:solidFill>
            <a:srgbClr val="1B26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1417320"/>
            <a:ext cx="5120640" cy="2743200"/>
          </a:xfrm>
          <a:prstGeom prst="rect">
            <a:avLst/>
          </a:prstGeom>
          <a:noFill/>
        </p:spPr>
        <p:txBody>
          <a:bodyPr wrap="square" anchor="t" lIns="45720" rIns="45720">
            <a:spAutoFit/>
          </a:bodyPr>
          <a:lstStyle/>
          <a:p>
            <a:pPr algn="l"/>
            <a:r>
              <a:rPr sz="1500" b="0">
                <a:solidFill>
                  <a:srgbClr val="BFE3E6"/>
                </a:solidFill>
                <a:latin typeface="Calibri"/>
              </a:rPr>
              <a:t>{"id":"C07","module":"M1",
 "taxonomy":"Guest-&gt;Host",
 "control":"qemu_not_root",
 "status":"PASS|FAIL|NA",
 "severity":1..4,
 "evidence":"...","fix":"...",
 "env":"E0|E1","vm":"weak"}</a:t>
            </a:r>
          </a:p>
        </p:txBody>
      </p:sp>
      <p:sp>
        <p:nvSpPr>
          <p:cNvPr id="7" name="TextBox 6"/>
          <p:cNvSpPr txBox="1"/>
          <p:nvPr/>
        </p:nvSpPr>
        <p:spPr>
          <a:xfrm>
            <a:off x="548640" y="4434840"/>
            <a:ext cx="5486400" cy="1737360"/>
          </a:xfrm>
          <a:prstGeom prst="rect">
            <a:avLst/>
          </a:prstGeom>
          <a:noFill/>
        </p:spPr>
        <p:txBody>
          <a:bodyPr wrap="square" anchor="t" lIns="45720" rIns="45720">
            <a:spAutoFit/>
          </a:bodyPr>
          <a:lstStyle/>
          <a:p>
            <a:pPr algn="l"/>
            <a:r>
              <a:rPr sz="1500" b="0">
                <a:solidFill>
                  <a:srgbClr val="222B33"/>
                </a:solidFill>
                <a:latin typeface="Calibri"/>
              </a:rPr>
              <a:t>Severity 1 to 4. M4 status: PASS if detected environment equals declared environment. Counts are never summed across different VMs.</a:t>
            </a:r>
          </a:p>
        </p:txBody>
      </p:sp>
      <p:sp>
        <p:nvSpPr>
          <p:cNvPr id="8" name="TextBox 7"/>
          <p:cNvSpPr txBox="1"/>
          <p:nvPr/>
        </p:nvSpPr>
        <p:spPr>
          <a:xfrm>
            <a:off x="6309360" y="1234440"/>
            <a:ext cx="5303520" cy="365760"/>
          </a:xfrm>
          <a:prstGeom prst="rect">
            <a:avLst/>
          </a:prstGeom>
          <a:noFill/>
        </p:spPr>
        <p:txBody>
          <a:bodyPr wrap="square" anchor="t" lIns="45720" rIns="45720">
            <a:spAutoFit/>
          </a:bodyPr>
          <a:lstStyle/>
          <a:p>
            <a:pPr algn="l"/>
            <a:r>
              <a:rPr sz="1500" b="1">
                <a:solidFill>
                  <a:srgbClr val="0B6B74"/>
                </a:solidFill>
                <a:latin typeface="Calibri"/>
              </a:rPr>
              <a:t>Matrix 1: per threat class (layout only)</a:t>
            </a:r>
          </a:p>
        </p:txBody>
      </p:sp>
      <p:graphicFrame>
        <p:nvGraphicFramePr>
          <p:cNvPr id="9" name="Table 8"/>
          <p:cNvGraphicFramePr>
            <a:graphicFrameLocks noGrp="1"/>
          </p:cNvGraphicFramePr>
          <p:nvPr/>
        </p:nvGraphicFramePr>
        <p:xfrm>
          <a:off x="6309360" y="1645920"/>
          <a:ext cx="5303520" cy="822960"/>
        </p:xfrm>
        <a:graphic>
          <a:graphicData uri="http://schemas.openxmlformats.org/drawingml/2006/table">
            <a:tbl>
              <a:tblPr firstRow="1" bandRow="1">
                <a:tableStyleId>{5C22544A-7EE6-4342-B048-85BDC9FD1C3A}</a:tableStyleId>
              </a:tblPr>
              <a:tblGrid>
                <a:gridCol w="1737360"/>
                <a:gridCol w="1097280"/>
                <a:gridCol w="914400"/>
                <a:gridCol w="822960"/>
                <a:gridCol w="731520"/>
              </a:tblGrid>
              <a:tr h="411480">
                <a:tc>
                  <a:txBody>
                    <a:bodyPr wrap="square"/>
                    <a:lstStyle/>
                    <a:p>
                      <a:r>
                        <a:rPr sz="1400" b="1">
                          <a:solidFill>
                            <a:srgbClr val="FFFFFF"/>
                          </a:solidFill>
                          <a:latin typeface="Calibri"/>
                        </a:rPr>
                        <a:t>Threat class</a:t>
                      </a:r>
                    </a:p>
                  </a:txBody>
                  <a:tcPr marL="73152" marR="73152" marT="27432" marB="27432" anchor="ctr">
                    <a:solidFill>
                      <a:srgbClr val="142B3F"/>
                    </a:solidFill>
                  </a:tcPr>
                </a:tc>
                <a:tc>
                  <a:txBody>
                    <a:bodyPr wrap="square"/>
                    <a:lstStyle/>
                    <a:p>
                      <a:r>
                        <a:rPr sz="1400" b="1">
                          <a:solidFill>
                            <a:srgbClr val="FFFFFF"/>
                          </a:solidFill>
                          <a:latin typeface="Calibri"/>
                        </a:rPr>
                        <a:t>Label</a:t>
                      </a:r>
                    </a:p>
                  </a:txBody>
                  <a:tcPr marL="73152" marR="73152" marT="27432" marB="27432" anchor="ctr">
                    <a:solidFill>
                      <a:srgbClr val="142B3F"/>
                    </a:solidFill>
                  </a:tcPr>
                </a:tc>
                <a:tc>
                  <a:txBody>
                    <a:bodyPr wrap="square"/>
                    <a:lstStyle/>
                    <a:p>
                      <a:r>
                        <a:rPr sz="1400" b="1">
                          <a:solidFill>
                            <a:srgbClr val="FFFFFF"/>
                          </a:solidFill>
                          <a:latin typeface="Calibri"/>
                        </a:rPr>
                        <a:t>Controls</a:t>
                      </a:r>
                    </a:p>
                  </a:txBody>
                  <a:tcPr marL="73152" marR="73152" marT="27432" marB="27432" anchor="ctr">
                    <a:solidFill>
                      <a:srgbClr val="142B3F"/>
                    </a:solidFill>
                  </a:tcPr>
                </a:tc>
                <a:tc>
                  <a:txBody>
                    <a:bodyPr wrap="square"/>
                    <a:lstStyle/>
                    <a:p>
                      <a:r>
                        <a:rPr sz="1400" b="1">
                          <a:solidFill>
                            <a:srgbClr val="FFFFFF"/>
                          </a:solidFill>
                          <a:latin typeface="Calibri"/>
                        </a:rPr>
                        <a:t>Tested</a:t>
                      </a:r>
                    </a:p>
                  </a:txBody>
                  <a:tcPr marL="73152" marR="73152" marT="27432" marB="27432" anchor="ctr">
                    <a:solidFill>
                      <a:srgbClr val="142B3F"/>
                    </a:solidFill>
                  </a:tcPr>
                </a:tc>
                <a:tc>
                  <a:txBody>
                    <a:bodyPr wrap="square"/>
                    <a:lstStyle/>
                    <a:p>
                      <a:r>
                        <a:rPr sz="1400" b="1">
                          <a:solidFill>
                            <a:srgbClr val="FFFFFF"/>
                          </a:solidFill>
                          <a:latin typeface="Calibri"/>
                        </a:rPr>
                        <a:t>N/A</a:t>
                      </a:r>
                    </a:p>
                  </a:txBody>
                  <a:tcPr marL="73152" marR="73152" marT="27432" marB="27432" anchor="ctr">
                    <a:solidFill>
                      <a:srgbClr val="142B3F"/>
                    </a:solidFill>
                  </a:tcPr>
                </a:tc>
              </a:tr>
              <a:tr h="411480">
                <a:tc>
                  <a:txBody>
                    <a:bodyPr wrap="square"/>
                    <a:lstStyle/>
                    <a:p>
                      <a:r>
                        <a:rPr sz="1400" b="0">
                          <a:solidFill>
                            <a:srgbClr val="222B33"/>
                          </a:solidFill>
                          <a:latin typeface="Calibri"/>
                        </a:rPr>
                        <a:t>...</a:t>
                      </a:r>
                    </a:p>
                  </a:txBody>
                  <a:tcPr marL="73152" marR="73152" marT="27432" marB="27432" anchor="ctr">
                    <a:solidFill>
                      <a:srgbClr val="EAF3F4"/>
                    </a:solidFill>
                  </a:tcPr>
                </a:tc>
                <a:tc>
                  <a:txBody>
                    <a:bodyPr wrap="square"/>
                    <a:lstStyle/>
                    <a:p>
                      <a:r>
                        <a:rPr sz="1400" b="0">
                          <a:solidFill>
                            <a:srgbClr val="222B33"/>
                          </a:solidFill>
                          <a:latin typeface="Calibri"/>
                        </a:rPr>
                        <a:t>...</a:t>
                      </a:r>
                    </a:p>
                  </a:txBody>
                  <a:tcPr marL="73152" marR="73152" marT="27432" marB="27432" anchor="ctr">
                    <a:solidFill>
                      <a:srgbClr val="EAF3F4"/>
                    </a:solidFill>
                  </a:tcPr>
                </a:tc>
                <a:tc>
                  <a:txBody>
                    <a:bodyPr wrap="square"/>
                    <a:lstStyle/>
                    <a:p>
                      <a:r>
                        <a:rPr sz="1400" b="0">
                          <a:solidFill>
                            <a:srgbClr val="222B33"/>
                          </a:solidFill>
                          <a:latin typeface="Calibri"/>
                        </a:rPr>
                        <a:t>n</a:t>
                      </a:r>
                    </a:p>
                  </a:txBody>
                  <a:tcPr marL="73152" marR="73152" marT="27432" marB="27432" anchor="ctr">
                    <a:solidFill>
                      <a:srgbClr val="EAF3F4"/>
                    </a:solidFill>
                  </a:tcPr>
                </a:tc>
                <a:tc>
                  <a:txBody>
                    <a:bodyPr wrap="square"/>
                    <a:lstStyle/>
                    <a:p>
                      <a:r>
                        <a:rPr sz="1400" b="0">
                          <a:solidFill>
                            <a:srgbClr val="222B33"/>
                          </a:solidFill>
                          <a:latin typeface="Calibri"/>
                        </a:rPr>
                        <a:t>n</a:t>
                      </a:r>
                    </a:p>
                  </a:txBody>
                  <a:tcPr marL="73152" marR="73152" marT="27432" marB="27432" anchor="ctr">
                    <a:solidFill>
                      <a:srgbClr val="EAF3F4"/>
                    </a:solidFill>
                  </a:tcPr>
                </a:tc>
                <a:tc>
                  <a:txBody>
                    <a:bodyPr wrap="square"/>
                    <a:lstStyle/>
                    <a:p>
                      <a:r>
                        <a:rPr sz="1400" b="0">
                          <a:solidFill>
                            <a:srgbClr val="222B33"/>
                          </a:solidFill>
                          <a:latin typeface="Calibri"/>
                        </a:rPr>
                        <a:t>n</a:t>
                      </a:r>
                    </a:p>
                  </a:txBody>
                  <a:tcPr marL="73152" marR="73152" marT="27432" marB="27432" anchor="ctr">
                    <a:solidFill>
                      <a:srgbClr val="EAF3F4"/>
                    </a:solidFill>
                  </a:tcPr>
                </a:tc>
              </a:tr>
            </a:tbl>
          </a:graphicData>
        </a:graphic>
      </p:graphicFrame>
      <p:sp>
        <p:nvSpPr>
          <p:cNvPr id="10" name="TextBox 9"/>
          <p:cNvSpPr txBox="1"/>
          <p:nvPr/>
        </p:nvSpPr>
        <p:spPr>
          <a:xfrm>
            <a:off x="6309360" y="2743200"/>
            <a:ext cx="5303520" cy="365760"/>
          </a:xfrm>
          <a:prstGeom prst="rect">
            <a:avLst/>
          </a:prstGeom>
          <a:noFill/>
        </p:spPr>
        <p:txBody>
          <a:bodyPr wrap="square" anchor="t" lIns="45720" rIns="45720">
            <a:spAutoFit/>
          </a:bodyPr>
          <a:lstStyle/>
          <a:p>
            <a:pPr algn="l"/>
            <a:r>
              <a:rPr sz="1500" b="1">
                <a:solidFill>
                  <a:srgbClr val="0B6B74"/>
                </a:solidFill>
                <a:latin typeface="Calibri"/>
              </a:rPr>
              <a:t>Matrix 2: per VM (layout only)</a:t>
            </a:r>
          </a:p>
        </p:txBody>
      </p:sp>
      <p:graphicFrame>
        <p:nvGraphicFramePr>
          <p:cNvPr id="11" name="Table 10"/>
          <p:cNvGraphicFramePr>
            <a:graphicFrameLocks noGrp="1"/>
          </p:cNvGraphicFramePr>
          <p:nvPr/>
        </p:nvGraphicFramePr>
        <p:xfrm>
          <a:off x="6309360" y="3154680"/>
          <a:ext cx="5303520" cy="1645920"/>
        </p:xfrm>
        <a:graphic>
          <a:graphicData uri="http://schemas.openxmlformats.org/drawingml/2006/table">
            <a:tbl>
              <a:tblPr firstRow="1" bandRow="1">
                <a:tableStyleId>{5C22544A-7EE6-4342-B048-85BDC9FD1C3A}</a:tableStyleId>
              </a:tblPr>
              <a:tblGrid>
                <a:gridCol w="1554480"/>
                <a:gridCol w="1463040"/>
                <a:gridCol w="1188720"/>
                <a:gridCol w="1097280"/>
              </a:tblGrid>
              <a:tr h="411480">
                <a:tc>
                  <a:txBody>
                    <a:bodyPr wrap="square"/>
                    <a:lstStyle/>
                    <a:p>
                      <a:r>
                        <a:rPr sz="1400" b="1">
                          <a:solidFill>
                            <a:srgbClr val="FFFFFF"/>
                          </a:solidFill>
                          <a:latin typeface="Calibri"/>
                        </a:rPr>
                        <a:t>VM</a:t>
                      </a:r>
                    </a:p>
                  </a:txBody>
                  <a:tcPr marL="73152" marR="73152" marT="27432" marB="27432" anchor="ctr">
                    <a:solidFill>
                      <a:srgbClr val="142B3F"/>
                    </a:solidFill>
                  </a:tcPr>
                </a:tc>
                <a:tc>
                  <a:txBody>
                    <a:bodyPr wrap="square"/>
                    <a:lstStyle/>
                    <a:p>
                      <a:r>
                        <a:rPr sz="1400" b="1">
                          <a:solidFill>
                            <a:srgbClr val="FFFFFF"/>
                          </a:solidFill>
                          <a:latin typeface="Calibri"/>
                        </a:rPr>
                        <a:t>Class 1</a:t>
                      </a:r>
                    </a:p>
                  </a:txBody>
                  <a:tcPr marL="73152" marR="73152" marT="27432" marB="27432" anchor="ctr">
                    <a:solidFill>
                      <a:srgbClr val="142B3F"/>
                    </a:solidFill>
                  </a:tcPr>
                </a:tc>
                <a:tc>
                  <a:txBody>
                    <a:bodyPr wrap="square"/>
                    <a:lstStyle/>
                    <a:p>
                      <a:r>
                        <a:rPr sz="1400" b="1">
                          <a:solidFill>
                            <a:srgbClr val="FFFFFF"/>
                          </a:solidFill>
                          <a:latin typeface="Calibri"/>
                        </a:rPr>
                        <a:t>Class 2</a:t>
                      </a:r>
                    </a:p>
                  </a:txBody>
                  <a:tcPr marL="73152" marR="73152" marT="27432" marB="27432" anchor="ctr">
                    <a:solidFill>
                      <a:srgbClr val="142B3F"/>
                    </a:solidFill>
                  </a:tcPr>
                </a:tc>
                <a:tc>
                  <a:txBody>
                    <a:bodyPr wrap="square"/>
                    <a:lstStyle/>
                    <a:p>
                      <a:r>
                        <a:rPr sz="1400" b="1">
                          <a:solidFill>
                            <a:srgbClr val="FFFFFF"/>
                          </a:solidFill>
                          <a:latin typeface="Calibri"/>
                        </a:rPr>
                        <a:t>...</a:t>
                      </a:r>
                    </a:p>
                  </a:txBody>
                  <a:tcPr marL="73152" marR="73152" marT="27432" marB="27432" anchor="ctr">
                    <a:solidFill>
                      <a:srgbClr val="142B3F"/>
                    </a:solidFill>
                  </a:tcPr>
                </a:tc>
              </a:tr>
              <a:tr h="411480">
                <a:tc>
                  <a:txBody>
                    <a:bodyPr wrap="square"/>
                    <a:lstStyle/>
                    <a:p>
                      <a:r>
                        <a:rPr sz="1400" b="0">
                          <a:solidFill>
                            <a:srgbClr val="222B33"/>
                          </a:solidFill>
                          <a:latin typeface="Calibri"/>
                        </a:rPr>
                        <a:t>weak</a:t>
                      </a:r>
                    </a:p>
                  </a:txBody>
                  <a:tcPr marL="73152" marR="73152" marT="27432" marB="27432" anchor="ctr">
                    <a:solidFill>
                      <a:srgbClr val="EAF3F4"/>
                    </a:solidFill>
                  </a:tcPr>
                </a:tc>
                <a:tc>
                  <a:txBody>
                    <a:bodyPr wrap="square"/>
                    <a:lstStyle/>
                    <a:p>
                      <a:r>
                        <a:rPr sz="1400" b="0">
                          <a:solidFill>
                            <a:srgbClr val="222B33"/>
                          </a:solidFill>
                          <a:latin typeface="Calibri"/>
                        </a:rPr>
                        <a:t>status</a:t>
                      </a:r>
                    </a:p>
                  </a:txBody>
                  <a:tcPr marL="73152" marR="73152" marT="27432" marB="27432" anchor="ctr">
                    <a:solidFill>
                      <a:srgbClr val="EAF3F4"/>
                    </a:solidFill>
                  </a:tcPr>
                </a:tc>
                <a:tc>
                  <a:txBody>
                    <a:bodyPr wrap="square"/>
                    <a:lstStyle/>
                    <a:p>
                      <a:r>
                        <a:rPr sz="1400" b="0">
                          <a:solidFill>
                            <a:srgbClr val="222B33"/>
                          </a:solidFill>
                          <a:latin typeface="Calibri"/>
                        </a:rPr>
                        <a:t>...</a:t>
                      </a:r>
                    </a:p>
                  </a:txBody>
                  <a:tcPr marL="73152" marR="73152" marT="27432" marB="27432" anchor="ctr">
                    <a:solidFill>
                      <a:srgbClr val="EAF3F4"/>
                    </a:solidFill>
                  </a:tcPr>
                </a:tc>
                <a:tc>
                  <a:txBody>
                    <a:bodyPr wrap="square"/>
                    <a:lstStyle/>
                    <a:p>
                      <a:r>
                        <a:rPr sz="1400" b="0">
                          <a:solidFill>
                            <a:srgbClr val="222B33"/>
                          </a:solidFill>
                          <a:latin typeface="Calibri"/>
                        </a:rPr>
                        <a:t>...</a:t>
                      </a:r>
                    </a:p>
                  </a:txBody>
                  <a:tcPr marL="73152" marR="73152" marT="27432" marB="27432" anchor="ctr">
                    <a:solidFill>
                      <a:srgbClr val="EAF3F4"/>
                    </a:solidFill>
                  </a:tcPr>
                </a:tc>
              </a:tr>
              <a:tr h="411480">
                <a:tc>
                  <a:txBody>
                    <a:bodyPr wrap="square"/>
                    <a:lstStyle/>
                    <a:p>
                      <a:r>
                        <a:rPr sz="1400" b="0">
                          <a:solidFill>
                            <a:srgbClr val="222B33"/>
                          </a:solidFill>
                          <a:latin typeface="Calibri"/>
                        </a:rPr>
                        <a:t>hardened</a:t>
                      </a:r>
                    </a:p>
                  </a:txBody>
                  <a:tcPr marL="73152" marR="73152" marT="27432" marB="27432" anchor="ctr">
                    <a:solidFill>
                      <a:srgbClr val="FFFFFF"/>
                    </a:solidFill>
                  </a:tcPr>
                </a:tc>
                <a:tc>
                  <a:txBody>
                    <a:bodyPr wrap="square"/>
                    <a:lstStyle/>
                    <a:p>
                      <a:r>
                        <a:rPr sz="1400" b="0">
                          <a:solidFill>
                            <a:srgbClr val="222B33"/>
                          </a:solidFill>
                          <a:latin typeface="Calibri"/>
                        </a:rPr>
                        <a:t>status</a:t>
                      </a:r>
                    </a:p>
                  </a:txBody>
                  <a:tcPr marL="73152" marR="73152" marT="27432" marB="27432" anchor="ctr">
                    <a:solidFill>
                      <a:srgbClr val="FFFFFF"/>
                    </a:solidFill>
                  </a:tcPr>
                </a:tc>
                <a:tc>
                  <a:txBody>
                    <a:bodyPr wrap="square"/>
                    <a:lstStyle/>
                    <a:p>
                      <a:r>
                        <a:rPr sz="1400" b="0">
                          <a:solidFill>
                            <a:srgbClr val="222B33"/>
                          </a:solidFill>
                          <a:latin typeface="Calibri"/>
                        </a:rPr>
                        <a:t>...</a:t>
                      </a:r>
                    </a:p>
                  </a:txBody>
                  <a:tcPr marL="73152" marR="73152" marT="27432" marB="27432" anchor="ctr">
                    <a:solidFill>
                      <a:srgbClr val="FFFFFF"/>
                    </a:solidFill>
                  </a:tcPr>
                </a:tc>
                <a:tc>
                  <a:txBody>
                    <a:bodyPr wrap="square"/>
                    <a:lstStyle/>
                    <a:p>
                      <a:r>
                        <a:rPr sz="1400" b="0">
                          <a:solidFill>
                            <a:srgbClr val="222B33"/>
                          </a:solidFill>
                          <a:latin typeface="Calibri"/>
                        </a:rPr>
                        <a:t>...</a:t>
                      </a:r>
                    </a:p>
                  </a:txBody>
                  <a:tcPr marL="73152" marR="73152" marT="27432" marB="27432" anchor="ctr">
                    <a:solidFill>
                      <a:srgbClr val="FFFFFF"/>
                    </a:solidFill>
                  </a:tcPr>
                </a:tc>
              </a:tr>
              <a:tr h="411480">
                <a:tc>
                  <a:txBody>
                    <a:bodyPr wrap="square"/>
                    <a:lstStyle/>
                    <a:p>
                      <a:r>
                        <a:rPr sz="1400" b="0">
                          <a:solidFill>
                            <a:srgbClr val="222B33"/>
                          </a:solidFill>
                          <a:latin typeface="Calibri"/>
                        </a:rPr>
                        <a:t>real-world</a:t>
                      </a:r>
                    </a:p>
                  </a:txBody>
                  <a:tcPr marL="73152" marR="73152" marT="27432" marB="27432" anchor="ctr">
                    <a:solidFill>
                      <a:srgbClr val="EAF3F4"/>
                    </a:solidFill>
                  </a:tcPr>
                </a:tc>
                <a:tc>
                  <a:txBody>
                    <a:bodyPr wrap="square"/>
                    <a:lstStyle/>
                    <a:p>
                      <a:r>
                        <a:rPr sz="1400" b="0">
                          <a:solidFill>
                            <a:srgbClr val="222B33"/>
                          </a:solidFill>
                          <a:latin typeface="Calibri"/>
                        </a:rPr>
                        <a:t>status</a:t>
                      </a:r>
                    </a:p>
                  </a:txBody>
                  <a:tcPr marL="73152" marR="73152" marT="27432" marB="27432" anchor="ctr">
                    <a:solidFill>
                      <a:srgbClr val="EAF3F4"/>
                    </a:solidFill>
                  </a:tcPr>
                </a:tc>
                <a:tc>
                  <a:txBody>
                    <a:bodyPr wrap="square"/>
                    <a:lstStyle/>
                    <a:p>
                      <a:r>
                        <a:rPr sz="1400" b="0">
                          <a:solidFill>
                            <a:srgbClr val="222B33"/>
                          </a:solidFill>
                          <a:latin typeface="Calibri"/>
                        </a:rPr>
                        <a:t>...</a:t>
                      </a:r>
                    </a:p>
                  </a:txBody>
                  <a:tcPr marL="73152" marR="73152" marT="27432" marB="27432" anchor="ctr">
                    <a:solidFill>
                      <a:srgbClr val="EAF3F4"/>
                    </a:solidFill>
                  </a:tcPr>
                </a:tc>
                <a:tc>
                  <a:txBody>
                    <a:bodyPr wrap="square"/>
                    <a:lstStyle/>
                    <a:p>
                      <a:r>
                        <a:rPr sz="1400" b="0">
                          <a:solidFill>
                            <a:srgbClr val="222B33"/>
                          </a:solidFill>
                          <a:latin typeface="Calibri"/>
                        </a:rPr>
                        <a:t>...</a:t>
                      </a:r>
                    </a:p>
                  </a:txBody>
                  <a:tcPr marL="73152" marR="73152" marT="27432" marB="27432" anchor="ctr">
                    <a:solidFill>
                      <a:srgbClr val="EAF3F4"/>
                    </a:solidFill>
                  </a:tcPr>
                </a:tc>
              </a:tr>
            </a:tbl>
          </a:graphicData>
        </a:graphic>
      </p:graphicFrame>
      <p:sp>
        <p:nvSpPr>
          <p:cNvPr id="12" name="TextBox 11"/>
          <p:cNvSpPr txBox="1"/>
          <p:nvPr/>
        </p:nvSpPr>
        <p:spPr>
          <a:xfrm>
            <a:off x="6309360" y="4937760"/>
            <a:ext cx="5303520" cy="1280160"/>
          </a:xfrm>
          <a:prstGeom prst="rect">
            <a:avLst/>
          </a:prstGeom>
          <a:noFill/>
        </p:spPr>
        <p:txBody>
          <a:bodyPr wrap="square" anchor="t" lIns="45720" rIns="45720">
            <a:spAutoFit/>
          </a:bodyPr>
          <a:lstStyle/>
          <a:p>
            <a:pPr algn="l"/>
            <a:r>
              <a:rPr sz="1400" b="0">
                <a:solidFill>
                  <a:srgbClr val="5B6770"/>
                </a:solidFill>
                <a:latin typeface="Calibri"/>
              </a:rPr>
              <a:t>Class status: PASS only if every control was tested and passed; otherwise PARTIAL (some tested) or NA (none tested). Any FAIL gives FAIL.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Backup: M2 snapshot privacy</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14</a:t>
            </a:r>
          </a:p>
        </p:txBody>
      </p:sp>
      <p:sp>
        <p:nvSpPr>
          <p:cNvPr id="5" name="TextBox 4"/>
          <p:cNvSpPr txBox="1"/>
          <p:nvPr/>
        </p:nvSpPr>
        <p:spPr>
          <a:xfrm>
            <a:off x="548640" y="1280160"/>
            <a:ext cx="5852160" cy="4937760"/>
          </a:xfrm>
          <a:prstGeom prst="rect">
            <a:avLst/>
          </a:prstGeom>
          <a:noFill/>
        </p:spPr>
        <p:txBody>
          <a:bodyPr wrap="square">
            <a:spAutoFit/>
          </a:bodyPr>
          <a:lstStyle/>
          <a:p>
            <a:pPr>
              <a:spcAft>
                <a:spcPts val="900"/>
              </a:spcAft>
            </a:pPr>
            <a:r>
              <a:rPr b="1" sz="1700">
                <a:solidFill>
                  <a:srgbClr val="0B6B74"/>
                </a:solidFill>
                <a:latin typeface="Calibri"/>
              </a:rPr>
              <a:t>12 cells </a:t>
            </a:r>
            <a:r>
              <a:rPr sz="1700">
                <a:solidFill>
                  <a:srgbClr val="222B33"/>
                </a:solidFill>
                <a:latin typeface="Calibri"/>
              </a:rPr>
              <a:t>4 secret types x 3 memory states</a:t>
            </a:r>
          </a:p>
          <a:p>
            <a:pPr>
              <a:spcAft>
                <a:spcPts val="900"/>
              </a:spcAft>
            </a:pPr>
            <a:r>
              <a:rPr b="1" sz="1700">
                <a:solidFill>
                  <a:srgbClr val="0B6B74"/>
                </a:solidFill>
                <a:latin typeface="Calibri"/>
              </a:rPr>
              <a:t>Held-out variants </a:t>
            </a:r>
            <a:r>
              <a:rPr sz="1700">
                <a:solidFill>
                  <a:srgbClr val="222B33"/>
                </a:solidFill>
                <a:latin typeface="Calibri"/>
              </a:rPr>
              <a:t>page-split, UTF-16, base64 (rules written blind)</a:t>
            </a:r>
          </a:p>
          <a:p>
            <a:pPr>
              <a:spcAft>
                <a:spcPts val="900"/>
              </a:spcAft>
            </a:pPr>
            <a:r>
              <a:rPr b="1" sz="1700">
                <a:solidFill>
                  <a:srgbClr val="0B6B74"/>
                </a:solidFill>
                <a:latin typeface="Calibri"/>
              </a:rPr>
              <a:t>Real programs </a:t>
            </a:r>
            <a:r>
              <a:rPr sz="1700">
                <a:solidFill>
                  <a:srgbClr val="222B33"/>
                </a:solidFill>
                <a:latin typeface="Calibri"/>
              </a:rPr>
              <a:t>ssh-agent and openssl s_server, throwaway keys</a:t>
            </a:r>
          </a:p>
          <a:p>
            <a:pPr>
              <a:spcAft>
                <a:spcPts val="900"/>
              </a:spcAft>
            </a:pPr>
            <a:r>
              <a:rPr b="1" sz="1700">
                <a:solidFill>
                  <a:srgbClr val="0B6B74"/>
                </a:solidFill>
                <a:latin typeface="Calibri"/>
              </a:rPr>
              <a:t>Host-side manifest </a:t>
            </a:r>
            <a:r>
              <a:rPr sz="1700">
                <a:solidFill>
                  <a:srgbClr val="222B33"/>
                </a:solidFill>
                <a:latin typeface="Calibri"/>
              </a:rPr>
              <a:t>guest-written manifest is not trusted</a:t>
            </a:r>
          </a:p>
          <a:p>
            <a:pPr>
              <a:spcAft>
                <a:spcPts val="900"/>
              </a:spcAft>
            </a:pPr>
            <a:r>
              <a:rPr b="1" sz="1700">
                <a:solidFill>
                  <a:srgbClr val="0B6B74"/>
                </a:solidFill>
                <a:latin typeface="Calibri"/>
              </a:rPr>
              <a:t>Negative controls </a:t>
            </a:r>
            <a:r>
              <a:rPr sz="1700">
                <a:solidFill>
                  <a:srgbClr val="222B33"/>
                </a:solidFill>
                <a:latin typeface="Calibri"/>
              </a:rPr>
              <a:t>empty and high-entropy-padded dumps</a:t>
            </a:r>
          </a:p>
          <a:p>
            <a:pPr>
              <a:spcAft>
                <a:spcPts val="900"/>
              </a:spcAft>
            </a:pPr>
            <a:r>
              <a:rPr b="1" sz="1700">
                <a:solidFill>
                  <a:srgbClr val="0B6B74"/>
                </a:solidFill>
                <a:latin typeface="Calibri"/>
              </a:rPr>
              <a:t>Synthetic secrets only </a:t>
            </a:r>
            <a:r>
              <a:rPr sz="1700">
                <a:solidFill>
                  <a:srgbClr val="222B33"/>
                </a:solidFill>
                <a:latin typeface="Calibri"/>
              </a:rPr>
              <a:t>never real credentials</a:t>
            </a:r>
          </a:p>
        </p:txBody>
      </p:sp>
      <p:graphicFrame>
        <p:nvGraphicFramePr>
          <p:cNvPr id="6" name="Table 5"/>
          <p:cNvGraphicFramePr>
            <a:graphicFrameLocks noGrp="1"/>
          </p:cNvGraphicFramePr>
          <p:nvPr/>
        </p:nvGraphicFramePr>
        <p:xfrm>
          <a:off x="6675120" y="1463040"/>
          <a:ext cx="4937760" cy="2286000"/>
        </p:xfrm>
        <a:graphic>
          <a:graphicData uri="http://schemas.openxmlformats.org/drawingml/2006/table">
            <a:tbl>
              <a:tblPr firstRow="1" bandRow="1">
                <a:tableStyleId>{5C22544A-7EE6-4342-B048-85BDC9FD1C3A}</a:tableStyleId>
              </a:tblPr>
              <a:tblGrid>
                <a:gridCol w="1371600"/>
                <a:gridCol w="1188720"/>
                <a:gridCol w="1188720"/>
                <a:gridCol w="1188720"/>
              </a:tblGrid>
              <a:tr h="457200">
                <a:tc>
                  <a:txBody>
                    <a:bodyPr wrap="square"/>
                    <a:lstStyle/>
                    <a:p>
                      <a:r>
                        <a:rPr sz="1400" b="1">
                          <a:solidFill>
                            <a:srgbClr val="FFFFFF"/>
                          </a:solidFill>
                          <a:latin typeface="Calibri"/>
                        </a:rPr>
                        <a:t/>
                      </a:r>
                    </a:p>
                  </a:txBody>
                  <a:tcPr marL="73152" marR="73152" marT="27432" marB="27432" anchor="ctr">
                    <a:solidFill>
                      <a:srgbClr val="142B3F"/>
                    </a:solidFill>
                  </a:tcPr>
                </a:tc>
                <a:tc>
                  <a:txBody>
                    <a:bodyPr wrap="square"/>
                    <a:lstStyle/>
                    <a:p>
                      <a:r>
                        <a:rPr sz="1400" b="1">
                          <a:solidFill>
                            <a:srgbClr val="FFFFFF"/>
                          </a:solidFill>
                          <a:latin typeface="Calibri"/>
                        </a:rPr>
                        <a:t>live</a:t>
                      </a:r>
                    </a:p>
                  </a:txBody>
                  <a:tcPr marL="73152" marR="73152" marT="27432" marB="27432" anchor="ctr">
                    <a:solidFill>
                      <a:srgbClr val="142B3F"/>
                    </a:solidFill>
                  </a:tcPr>
                </a:tc>
                <a:tc>
                  <a:txBody>
                    <a:bodyPr wrap="square"/>
                    <a:lstStyle/>
                    <a:p>
                      <a:r>
                        <a:rPr sz="1400" b="1">
                          <a:solidFill>
                            <a:srgbClr val="FFFFFF"/>
                          </a:solidFill>
                          <a:latin typeface="Calibri"/>
                        </a:rPr>
                        <a:t>freed</a:t>
                      </a:r>
                    </a:p>
                  </a:txBody>
                  <a:tcPr marL="73152" marR="73152" marT="27432" marB="27432" anchor="ctr">
                    <a:solidFill>
                      <a:srgbClr val="142B3F"/>
                    </a:solidFill>
                  </a:tcPr>
                </a:tc>
                <a:tc>
                  <a:txBody>
                    <a:bodyPr wrap="square"/>
                    <a:lstStyle/>
                    <a:p>
                      <a:r>
                        <a:rPr sz="1400" b="1">
                          <a:solidFill>
                            <a:srgbClr val="FFFFFF"/>
                          </a:solidFill>
                          <a:latin typeface="Calibri"/>
                        </a:rPr>
                        <a:t>exited</a:t>
                      </a:r>
                    </a:p>
                  </a:txBody>
                  <a:tcPr marL="73152" marR="73152" marT="27432" marB="27432" anchor="ctr">
                    <a:solidFill>
                      <a:srgbClr val="142B3F"/>
                    </a:solidFill>
                  </a:tcPr>
                </a:tc>
              </a:tr>
              <a:tr h="457200">
                <a:tc>
                  <a:txBody>
                    <a:bodyPr wrap="square"/>
                    <a:lstStyle/>
                    <a:p>
                      <a:r>
                        <a:rPr sz="1400" b="0">
                          <a:solidFill>
                            <a:srgbClr val="222B33"/>
                          </a:solidFill>
                          <a:latin typeface="Calibri"/>
                        </a:rPr>
                        <a:t>ssh_key</a:t>
                      </a:r>
                    </a:p>
                  </a:txBody>
                  <a:tcPr marL="73152" marR="73152" marT="27432" marB="27432" anchor="ctr">
                    <a:solidFill>
                      <a:srgbClr val="EAF3F4"/>
                    </a:solidFill>
                  </a:tcPr>
                </a:tc>
                <a:tc>
                  <a:txBody>
                    <a:bodyPr wrap="square"/>
                    <a:lstStyle/>
                    <a:p>
                      <a:r>
                        <a:rPr sz="1400" b="0">
                          <a:solidFill>
                            <a:srgbClr val="222B33"/>
                          </a:solidFill>
                          <a:latin typeface="Calibri"/>
                        </a:rPr>
                        <a:t>cell</a:t>
                      </a:r>
                    </a:p>
                  </a:txBody>
                  <a:tcPr marL="73152" marR="73152" marT="27432" marB="27432" anchor="ctr">
                    <a:solidFill>
                      <a:srgbClr val="EAF3F4"/>
                    </a:solidFill>
                  </a:tcPr>
                </a:tc>
                <a:tc>
                  <a:txBody>
                    <a:bodyPr wrap="square"/>
                    <a:lstStyle/>
                    <a:p>
                      <a:r>
                        <a:rPr sz="1400" b="0">
                          <a:solidFill>
                            <a:srgbClr val="222B33"/>
                          </a:solidFill>
                          <a:latin typeface="Calibri"/>
                        </a:rPr>
                        <a:t>cell</a:t>
                      </a:r>
                    </a:p>
                  </a:txBody>
                  <a:tcPr marL="73152" marR="73152" marT="27432" marB="27432" anchor="ctr">
                    <a:solidFill>
                      <a:srgbClr val="EAF3F4"/>
                    </a:solidFill>
                  </a:tcPr>
                </a:tc>
                <a:tc>
                  <a:txBody>
                    <a:bodyPr wrap="square"/>
                    <a:lstStyle/>
                    <a:p>
                      <a:r>
                        <a:rPr sz="1400" b="0">
                          <a:solidFill>
                            <a:srgbClr val="222B33"/>
                          </a:solidFill>
                          <a:latin typeface="Calibri"/>
                        </a:rPr>
                        <a:t>cell</a:t>
                      </a:r>
                    </a:p>
                  </a:txBody>
                  <a:tcPr marL="73152" marR="73152" marT="27432" marB="27432" anchor="ctr">
                    <a:solidFill>
                      <a:srgbClr val="EAF3F4"/>
                    </a:solidFill>
                  </a:tcPr>
                </a:tc>
              </a:tr>
              <a:tr h="457200">
                <a:tc>
                  <a:txBody>
                    <a:bodyPr wrap="square"/>
                    <a:lstStyle/>
                    <a:p>
                      <a:r>
                        <a:rPr sz="1400" b="0">
                          <a:solidFill>
                            <a:srgbClr val="222B33"/>
                          </a:solidFill>
                          <a:latin typeface="Calibri"/>
                        </a:rPr>
                        <a:t>aws</a:t>
                      </a:r>
                    </a:p>
                  </a:txBody>
                  <a:tcPr marL="73152" marR="73152" marT="27432" marB="27432" anchor="ctr">
                    <a:solidFill>
                      <a:srgbClr val="FFFFFF"/>
                    </a:solidFill>
                  </a:tcPr>
                </a:tc>
                <a:tc>
                  <a:txBody>
                    <a:bodyPr wrap="square"/>
                    <a:lstStyle/>
                    <a:p>
                      <a:r>
                        <a:rPr sz="1400" b="0">
                          <a:solidFill>
                            <a:srgbClr val="222B33"/>
                          </a:solidFill>
                          <a:latin typeface="Calibri"/>
                        </a:rPr>
                        <a:t>cell</a:t>
                      </a:r>
                    </a:p>
                  </a:txBody>
                  <a:tcPr marL="73152" marR="73152" marT="27432" marB="27432" anchor="ctr">
                    <a:solidFill>
                      <a:srgbClr val="FFFFFF"/>
                    </a:solidFill>
                  </a:tcPr>
                </a:tc>
                <a:tc>
                  <a:txBody>
                    <a:bodyPr wrap="square"/>
                    <a:lstStyle/>
                    <a:p>
                      <a:r>
                        <a:rPr sz="1400" b="0">
                          <a:solidFill>
                            <a:srgbClr val="222B33"/>
                          </a:solidFill>
                          <a:latin typeface="Calibri"/>
                        </a:rPr>
                        <a:t>cell</a:t>
                      </a:r>
                    </a:p>
                  </a:txBody>
                  <a:tcPr marL="73152" marR="73152" marT="27432" marB="27432" anchor="ctr">
                    <a:solidFill>
                      <a:srgbClr val="FFFFFF"/>
                    </a:solidFill>
                  </a:tcPr>
                </a:tc>
                <a:tc>
                  <a:txBody>
                    <a:bodyPr wrap="square"/>
                    <a:lstStyle/>
                    <a:p>
                      <a:r>
                        <a:rPr sz="1400" b="0">
                          <a:solidFill>
                            <a:srgbClr val="222B33"/>
                          </a:solidFill>
                          <a:latin typeface="Calibri"/>
                        </a:rPr>
                        <a:t>cell</a:t>
                      </a:r>
                    </a:p>
                  </a:txBody>
                  <a:tcPr marL="73152" marR="73152" marT="27432" marB="27432" anchor="ctr">
                    <a:solidFill>
                      <a:srgbClr val="FFFFFF"/>
                    </a:solidFill>
                  </a:tcPr>
                </a:tc>
              </a:tr>
              <a:tr h="457200">
                <a:tc>
                  <a:txBody>
                    <a:bodyPr wrap="square"/>
                    <a:lstStyle/>
                    <a:p>
                      <a:r>
                        <a:rPr sz="1400" b="0">
                          <a:solidFill>
                            <a:srgbClr val="222B33"/>
                          </a:solidFill>
                          <a:latin typeface="Calibri"/>
                        </a:rPr>
                        <a:t>jwt</a:t>
                      </a:r>
                    </a:p>
                  </a:txBody>
                  <a:tcPr marL="73152" marR="73152" marT="27432" marB="27432" anchor="ctr">
                    <a:solidFill>
                      <a:srgbClr val="EAF3F4"/>
                    </a:solidFill>
                  </a:tcPr>
                </a:tc>
                <a:tc>
                  <a:txBody>
                    <a:bodyPr wrap="square"/>
                    <a:lstStyle/>
                    <a:p>
                      <a:r>
                        <a:rPr sz="1400" b="0">
                          <a:solidFill>
                            <a:srgbClr val="222B33"/>
                          </a:solidFill>
                          <a:latin typeface="Calibri"/>
                        </a:rPr>
                        <a:t>cell</a:t>
                      </a:r>
                    </a:p>
                  </a:txBody>
                  <a:tcPr marL="73152" marR="73152" marT="27432" marB="27432" anchor="ctr">
                    <a:solidFill>
                      <a:srgbClr val="EAF3F4"/>
                    </a:solidFill>
                  </a:tcPr>
                </a:tc>
                <a:tc>
                  <a:txBody>
                    <a:bodyPr wrap="square"/>
                    <a:lstStyle/>
                    <a:p>
                      <a:r>
                        <a:rPr sz="1400" b="0">
                          <a:solidFill>
                            <a:srgbClr val="222B33"/>
                          </a:solidFill>
                          <a:latin typeface="Calibri"/>
                        </a:rPr>
                        <a:t>cell</a:t>
                      </a:r>
                    </a:p>
                  </a:txBody>
                  <a:tcPr marL="73152" marR="73152" marT="27432" marB="27432" anchor="ctr">
                    <a:solidFill>
                      <a:srgbClr val="EAF3F4"/>
                    </a:solidFill>
                  </a:tcPr>
                </a:tc>
                <a:tc>
                  <a:txBody>
                    <a:bodyPr wrap="square"/>
                    <a:lstStyle/>
                    <a:p>
                      <a:r>
                        <a:rPr sz="1400" b="0">
                          <a:solidFill>
                            <a:srgbClr val="222B33"/>
                          </a:solidFill>
                          <a:latin typeface="Calibri"/>
                        </a:rPr>
                        <a:t>cell</a:t>
                      </a:r>
                    </a:p>
                  </a:txBody>
                  <a:tcPr marL="73152" marR="73152" marT="27432" marB="27432" anchor="ctr">
                    <a:solidFill>
                      <a:srgbClr val="EAF3F4"/>
                    </a:solidFill>
                  </a:tcPr>
                </a:tc>
              </a:tr>
              <a:tr h="457200">
                <a:tc>
                  <a:txBody>
                    <a:bodyPr wrap="square"/>
                    <a:lstStyle/>
                    <a:p>
                      <a:r>
                        <a:rPr sz="1400" b="0">
                          <a:solidFill>
                            <a:srgbClr val="222B33"/>
                          </a:solidFill>
                          <a:latin typeface="Calibri"/>
                        </a:rPr>
                        <a:t>hex32</a:t>
                      </a:r>
                    </a:p>
                  </a:txBody>
                  <a:tcPr marL="73152" marR="73152" marT="27432" marB="27432" anchor="ctr">
                    <a:solidFill>
                      <a:srgbClr val="FFFFFF"/>
                    </a:solidFill>
                  </a:tcPr>
                </a:tc>
                <a:tc>
                  <a:txBody>
                    <a:bodyPr wrap="square"/>
                    <a:lstStyle/>
                    <a:p>
                      <a:r>
                        <a:rPr sz="1400" b="0">
                          <a:solidFill>
                            <a:srgbClr val="222B33"/>
                          </a:solidFill>
                          <a:latin typeface="Calibri"/>
                        </a:rPr>
                        <a:t>cell</a:t>
                      </a:r>
                    </a:p>
                  </a:txBody>
                  <a:tcPr marL="73152" marR="73152" marT="27432" marB="27432" anchor="ctr">
                    <a:solidFill>
                      <a:srgbClr val="FFFFFF"/>
                    </a:solidFill>
                  </a:tcPr>
                </a:tc>
                <a:tc>
                  <a:txBody>
                    <a:bodyPr wrap="square"/>
                    <a:lstStyle/>
                    <a:p>
                      <a:r>
                        <a:rPr sz="1400" b="0">
                          <a:solidFill>
                            <a:srgbClr val="222B33"/>
                          </a:solidFill>
                          <a:latin typeface="Calibri"/>
                        </a:rPr>
                        <a:t>cell</a:t>
                      </a:r>
                    </a:p>
                  </a:txBody>
                  <a:tcPr marL="73152" marR="73152" marT="27432" marB="27432" anchor="ctr">
                    <a:solidFill>
                      <a:srgbClr val="FFFFFF"/>
                    </a:solidFill>
                  </a:tcPr>
                </a:tc>
                <a:tc>
                  <a:txBody>
                    <a:bodyPr wrap="square"/>
                    <a:lstStyle/>
                    <a:p>
                      <a:r>
                        <a:rPr sz="1400" b="0">
                          <a:solidFill>
                            <a:srgbClr val="222B33"/>
                          </a:solidFill>
                          <a:latin typeface="Calibri"/>
                        </a:rPr>
                        <a:t>cell</a:t>
                      </a:r>
                    </a:p>
                  </a:txBody>
                  <a:tcPr marL="73152" marR="73152" marT="27432" marB="27432" anchor="ctr">
                    <a:solidFill>
                      <a:srgbClr val="FFFFFF"/>
                    </a:solidFill>
                  </a:tcPr>
                </a:tc>
              </a:tr>
            </a:tbl>
          </a:graphicData>
        </a:graphic>
      </p:graphicFrame>
      <p:sp>
        <p:nvSpPr>
          <p:cNvPr id="7" name="TextBox 6"/>
          <p:cNvSpPr txBox="1"/>
          <p:nvPr/>
        </p:nvSpPr>
        <p:spPr>
          <a:xfrm>
            <a:off x="6675120" y="3931920"/>
            <a:ext cx="4937760" cy="1097280"/>
          </a:xfrm>
          <a:prstGeom prst="rect">
            <a:avLst/>
          </a:prstGeom>
          <a:noFill/>
        </p:spPr>
        <p:txBody>
          <a:bodyPr wrap="square" anchor="t" lIns="45720" rIns="45720">
            <a:spAutoFit/>
          </a:bodyPr>
          <a:lstStyle/>
          <a:p>
            <a:pPr algn="l"/>
            <a:r>
              <a:rPr sz="1400" b="0">
                <a:solidFill>
                  <a:srgbClr val="5B6770"/>
                </a:solidFill>
                <a:latin typeface="Calibri"/>
              </a:rPr>
              <a:t>Layout of the 12 cells. No real dumps; synthetic dumps cannot tell the three states apart.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Backup: M3 offline memory forensics</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15</a:t>
            </a:r>
          </a:p>
        </p:txBody>
      </p:sp>
      <p:sp>
        <p:nvSpPr>
          <p:cNvPr id="5" name="TextBox 4"/>
          <p:cNvSpPr txBox="1"/>
          <p:nvPr/>
        </p:nvSpPr>
        <p:spPr>
          <a:xfrm>
            <a:off x="548640" y="1280160"/>
            <a:ext cx="5943600" cy="4937760"/>
          </a:xfrm>
          <a:prstGeom prst="rect">
            <a:avLst/>
          </a:prstGeom>
          <a:noFill/>
        </p:spPr>
        <p:txBody>
          <a:bodyPr wrap="square">
            <a:spAutoFit/>
          </a:bodyPr>
          <a:lstStyle/>
          <a:p>
            <a:pPr>
              <a:spcAft>
                <a:spcPts val="900"/>
              </a:spcAft>
            </a:pPr>
            <a:r>
              <a:rPr b="1" sz="1700">
                <a:solidFill>
                  <a:srgbClr val="0B6B74"/>
                </a:solidFill>
                <a:latin typeface="Calibri"/>
              </a:rPr>
              <a:t>Compare </a:t>
            </a:r>
            <a:r>
              <a:rPr sz="1700">
                <a:solidFill>
                  <a:srgbClr val="222B33"/>
                </a:solidFill>
                <a:latin typeface="Calibri"/>
              </a:rPr>
              <a:t>pslist vs psscan, lsmod vs module scan</a:t>
            </a:r>
          </a:p>
          <a:p>
            <a:pPr>
              <a:spcAft>
                <a:spcPts val="900"/>
              </a:spcAft>
            </a:pPr>
            <a:r>
              <a:rPr b="1" sz="1700">
                <a:solidFill>
                  <a:srgbClr val="0B6B74"/>
                </a:solidFill>
                <a:latin typeface="Calibri"/>
              </a:rPr>
              <a:t>Symbols </a:t>
            </a:r>
            <a:r>
              <a:rPr sz="1700">
                <a:solidFill>
                  <a:srgbClr val="222B33"/>
                </a:solidFill>
                <a:latin typeface="Calibri"/>
              </a:rPr>
              <a:t>one pinned kernel, sha256-pinned build, hash required</a:t>
            </a:r>
          </a:p>
          <a:p>
            <a:pPr>
              <a:spcAft>
                <a:spcPts val="900"/>
              </a:spcAft>
            </a:pPr>
            <a:r>
              <a:rPr b="1" sz="1700">
                <a:solidFill>
                  <a:srgbClr val="0B6B74"/>
                </a:solidFill>
                <a:latin typeface="Calibri"/>
              </a:rPr>
              <a:t>Sandbox </a:t>
            </a:r>
            <a:r>
              <a:rPr sz="1700">
                <a:solidFill>
                  <a:srgbClr val="222B33"/>
                </a:solidFill>
                <a:latin typeface="Calibri"/>
              </a:rPr>
              <a:t>Volatility with no network, memory cap, unprivileged</a:t>
            </a:r>
          </a:p>
          <a:p>
            <a:pPr>
              <a:spcAft>
                <a:spcPts val="900"/>
              </a:spcAft>
            </a:pPr>
            <a:r>
              <a:rPr b="1" sz="1700">
                <a:solidFill>
                  <a:srgbClr val="0B6B74"/>
                </a:solidFill>
                <a:latin typeface="Calibri"/>
              </a:rPr>
              <a:t>Truth </a:t>
            </a:r>
            <a:r>
              <a:rPr sz="1700">
                <a:solidFill>
                  <a:srgbClr val="222B33"/>
                </a:solidFill>
                <a:latin typeface="Calibri"/>
              </a:rPr>
              <a:t>public images with documented hidden processes</a:t>
            </a:r>
          </a:p>
          <a:p>
            <a:pPr>
              <a:spcAft>
                <a:spcPts val="900"/>
              </a:spcAft>
            </a:pPr>
            <a:r>
              <a:rPr b="1" sz="1700">
                <a:solidFill>
                  <a:srgbClr val="0B6B74"/>
                </a:solidFill>
                <a:latin typeface="Calibri"/>
              </a:rPr>
              <a:t>False positives </a:t>
            </a:r>
            <a:r>
              <a:rPr sz="1700">
                <a:solidFill>
                  <a:srgbClr val="222B33"/>
                </a:solidFill>
                <a:latin typeface="Calibri"/>
              </a:rPr>
              <a:t>clean dumps under process churn</a:t>
            </a:r>
          </a:p>
          <a:p>
            <a:pPr>
              <a:spcAft>
                <a:spcPts val="900"/>
              </a:spcAft>
            </a:pPr>
            <a:r>
              <a:rPr b="1" sz="1700">
                <a:solidFill>
                  <a:srgbClr val="0B6B74"/>
                </a:solidFill>
                <a:latin typeface="Calibri"/>
              </a:rPr>
              <a:t>Limit </a:t>
            </a:r>
            <a:r>
              <a:rPr sz="1700">
                <a:solidFill>
                  <a:srgbClr val="222B33"/>
                </a:solidFill>
                <a:latin typeface="Calibri"/>
              </a:rPr>
              <a:t>only unlinked processes and modules, only at dump time</a:t>
            </a:r>
          </a:p>
        </p:txBody>
      </p:sp>
      <p:sp>
        <p:nvSpPr>
          <p:cNvPr id="6" name="Rounded Rectangle 5"/>
          <p:cNvSpPr/>
          <p:nvPr/>
        </p:nvSpPr>
        <p:spPr>
          <a:xfrm>
            <a:off x="6766560" y="1371600"/>
            <a:ext cx="4846320" cy="155448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03720" y="1463040"/>
            <a:ext cx="4572000" cy="411480"/>
          </a:xfrm>
          <a:prstGeom prst="rect">
            <a:avLst/>
          </a:prstGeom>
          <a:noFill/>
        </p:spPr>
        <p:txBody>
          <a:bodyPr wrap="square" anchor="t" lIns="45720" rIns="45720">
            <a:spAutoFit/>
          </a:bodyPr>
          <a:lstStyle/>
          <a:p>
            <a:pPr algn="l"/>
            <a:r>
              <a:rPr sz="1600" b="1">
                <a:solidFill>
                  <a:srgbClr val="0B6B74"/>
                </a:solidFill>
                <a:latin typeface="Calibri"/>
              </a:rPr>
              <a:t>Process view</a:t>
            </a:r>
          </a:p>
        </p:txBody>
      </p:sp>
      <p:sp>
        <p:nvSpPr>
          <p:cNvPr id="8" name="TextBox 7"/>
          <p:cNvSpPr txBox="1"/>
          <p:nvPr/>
        </p:nvSpPr>
        <p:spPr>
          <a:xfrm>
            <a:off x="6903720" y="1874519"/>
            <a:ext cx="4572000" cy="960119"/>
          </a:xfrm>
          <a:prstGeom prst="rect">
            <a:avLst/>
          </a:prstGeom>
          <a:noFill/>
        </p:spPr>
        <p:txBody>
          <a:bodyPr wrap="square" anchor="t" lIns="45720" rIns="45720">
            <a:spAutoFit/>
          </a:bodyPr>
          <a:lstStyle/>
          <a:p>
            <a:pPr algn="l"/>
            <a:r>
              <a:rPr sz="1400" b="0">
                <a:solidFill>
                  <a:srgbClr val="222B33"/>
                </a:solidFill>
                <a:latin typeface="Calibri"/>
              </a:rPr>
              <a:t>pslist: kernel's own list
psscan: raw memory scan
in scan, not in list = hidden candidate</a:t>
            </a:r>
          </a:p>
        </p:txBody>
      </p:sp>
      <p:sp>
        <p:nvSpPr>
          <p:cNvPr id="9" name="Rounded Rectangle 8"/>
          <p:cNvSpPr/>
          <p:nvPr/>
        </p:nvSpPr>
        <p:spPr>
          <a:xfrm>
            <a:off x="6766560" y="3108960"/>
            <a:ext cx="4846320" cy="137160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3200400"/>
            <a:ext cx="4572000" cy="411480"/>
          </a:xfrm>
          <a:prstGeom prst="rect">
            <a:avLst/>
          </a:prstGeom>
          <a:noFill/>
        </p:spPr>
        <p:txBody>
          <a:bodyPr wrap="square" anchor="t" lIns="45720" rIns="45720">
            <a:spAutoFit/>
          </a:bodyPr>
          <a:lstStyle/>
          <a:p>
            <a:pPr algn="l"/>
            <a:r>
              <a:rPr sz="1600" b="1">
                <a:solidFill>
                  <a:srgbClr val="0B6B74"/>
                </a:solidFill>
                <a:latin typeface="Calibri"/>
              </a:rPr>
              <a:t>Module view</a:t>
            </a:r>
          </a:p>
        </p:txBody>
      </p:sp>
      <p:sp>
        <p:nvSpPr>
          <p:cNvPr id="11" name="TextBox 10"/>
          <p:cNvSpPr txBox="1"/>
          <p:nvPr/>
        </p:nvSpPr>
        <p:spPr>
          <a:xfrm>
            <a:off x="6903720" y="3611880"/>
            <a:ext cx="4572000" cy="777240"/>
          </a:xfrm>
          <a:prstGeom prst="rect">
            <a:avLst/>
          </a:prstGeom>
          <a:noFill/>
        </p:spPr>
        <p:txBody>
          <a:bodyPr wrap="square" anchor="t" lIns="45720" rIns="45720">
            <a:spAutoFit/>
          </a:bodyPr>
          <a:lstStyle/>
          <a:p>
            <a:pPr algn="l"/>
            <a:r>
              <a:rPr sz="1400" b="0">
                <a:solidFill>
                  <a:srgbClr val="222B33"/>
                </a:solidFill>
                <a:latin typeface="Calibri"/>
              </a:rPr>
              <a:t>lsmod vs scan for kernel modules</a:t>
            </a:r>
          </a:p>
        </p:txBody>
      </p:sp>
      <p:sp>
        <p:nvSpPr>
          <p:cNvPr id="12" name="Rounded Rectangle 11"/>
          <p:cNvSpPr/>
          <p:nvPr/>
        </p:nvSpPr>
        <p:spPr>
          <a:xfrm>
            <a:off x="6766560" y="4663440"/>
            <a:ext cx="4846320" cy="146304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4754879"/>
            <a:ext cx="4572000" cy="411480"/>
          </a:xfrm>
          <a:prstGeom prst="rect">
            <a:avLst/>
          </a:prstGeom>
          <a:noFill/>
        </p:spPr>
        <p:txBody>
          <a:bodyPr wrap="square" anchor="t" lIns="45720" rIns="45720">
            <a:spAutoFit/>
          </a:bodyPr>
          <a:lstStyle/>
          <a:p>
            <a:pPr algn="l"/>
            <a:r>
              <a:rPr sz="1600" b="1">
                <a:solidFill>
                  <a:srgbClr val="0B6B74"/>
                </a:solidFill>
                <a:latin typeface="Calibri"/>
              </a:rPr>
              <a:t>Reported as</a:t>
            </a:r>
          </a:p>
        </p:txBody>
      </p:sp>
      <p:sp>
        <p:nvSpPr>
          <p:cNvPr id="14" name="TextBox 13"/>
          <p:cNvSpPr txBox="1"/>
          <p:nvPr/>
        </p:nvSpPr>
        <p:spPr>
          <a:xfrm>
            <a:off x="6903720" y="5166359"/>
            <a:ext cx="4572000" cy="868680"/>
          </a:xfrm>
          <a:prstGeom prst="rect">
            <a:avLst/>
          </a:prstGeom>
          <a:noFill/>
        </p:spPr>
        <p:txBody>
          <a:bodyPr wrap="square" anchor="t" lIns="45720" rIns="45720">
            <a:spAutoFit/>
          </a:bodyPr>
          <a:lstStyle/>
          <a:p>
            <a:pPr algn="l"/>
            <a:r>
              <a:rPr sz="1400" b="0">
                <a:solidFill>
                  <a:srgbClr val="222B33"/>
                </a:solidFill>
                <a:latin typeface="Calibri"/>
              </a:rPr>
              <a:t>Exact counts (k of n) with Clopper-Pearson 95% CIs, plus a failure-case table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Backup: engineering detail</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16</a:t>
            </a:r>
          </a:p>
        </p:txBody>
      </p:sp>
      <p:sp>
        <p:nvSpPr>
          <p:cNvPr id="5" name="TextBox 4"/>
          <p:cNvSpPr txBox="1"/>
          <p:nvPr/>
        </p:nvSpPr>
        <p:spPr>
          <a:xfrm>
            <a:off x="548640" y="1280160"/>
            <a:ext cx="6675120" cy="4937760"/>
          </a:xfrm>
          <a:prstGeom prst="rect">
            <a:avLst/>
          </a:prstGeom>
          <a:noFill/>
        </p:spPr>
        <p:txBody>
          <a:bodyPr wrap="square">
            <a:spAutoFit/>
          </a:bodyPr>
          <a:lstStyle/>
          <a:p>
            <a:pPr>
              <a:spcAft>
                <a:spcPts val="900"/>
              </a:spcAft>
            </a:pPr>
            <a:r>
              <a:rPr b="1" sz="1600">
                <a:solidFill>
                  <a:srgbClr val="0B6B74"/>
                </a:solidFill>
                <a:latin typeface="Calibri"/>
              </a:rPr>
              <a:t>Tests </a:t>
            </a:r>
            <a:r>
              <a:rPr sz="1600">
                <a:solidFill>
                  <a:srgbClr val="222B33"/>
                </a:solidFill>
                <a:latin typeface="Calibri"/>
              </a:rPr>
              <a:t>1028 collected; Windows 1009 passed, 19 skipped</a:t>
            </a:r>
          </a:p>
          <a:p>
            <a:pPr>
              <a:spcAft>
                <a:spcPts val="900"/>
              </a:spcAft>
            </a:pPr>
            <a:r>
              <a:rPr b="1" sz="1600">
                <a:solidFill>
                  <a:srgbClr val="0B6B74"/>
                </a:solidFill>
                <a:latin typeface="Calibri"/>
              </a:rPr>
              <a:t>Linux </a:t>
            </a:r>
            <a:r>
              <a:rPr sz="1600">
                <a:solidFill>
                  <a:srgbClr val="222B33"/>
                </a:solidFill>
                <a:latin typeface="Calibri"/>
              </a:rPr>
              <a:t>WSL2 once: 985 passed, 2 failed (fixed), 1 skipped; not re-run</a:t>
            </a:r>
          </a:p>
          <a:p>
            <a:pPr>
              <a:spcAft>
                <a:spcPts val="900"/>
              </a:spcAft>
            </a:pPr>
            <a:r>
              <a:rPr b="1" sz="1600">
                <a:solidFill>
                  <a:srgbClr val="0B6B74"/>
                </a:solidFill>
                <a:latin typeface="Calibri"/>
              </a:rPr>
              <a:t>Reviews </a:t>
            </a:r>
            <a:r>
              <a:rPr sz="1600">
                <a:solidFill>
                  <a:srgbClr val="222B33"/>
                </a:solidFill>
                <a:latin typeface="Calibri"/>
              </a:rPr>
              <a:t>AI-agent reviews, 3 waves; no human review; tests written by the same AI</a:t>
            </a:r>
          </a:p>
          <a:p>
            <a:pPr>
              <a:spcAft>
                <a:spcPts val="900"/>
              </a:spcAft>
            </a:pPr>
            <a:r>
              <a:rPr b="1" sz="1600">
                <a:solidFill>
                  <a:srgbClr val="0B6B74"/>
                </a:solidFill>
                <a:latin typeface="Calibri"/>
              </a:rPr>
              <a:t>bench.c </a:t>
            </a:r>
            <a:r>
              <a:rPr sz="1600">
                <a:solidFill>
                  <a:srgbClr val="222B33"/>
                </a:solidFill>
                <a:latin typeface="Calibri"/>
              </a:rPr>
              <a:t>gcc 13.3 and zig; one functional run in WSL2 (a VM)</a:t>
            </a:r>
          </a:p>
          <a:p>
            <a:pPr>
              <a:spcAft>
                <a:spcPts val="900"/>
              </a:spcAft>
            </a:pPr>
            <a:r>
              <a:rPr b="1" sz="1600">
                <a:solidFill>
                  <a:srgbClr val="0B6B74"/>
                </a:solidFill>
                <a:latin typeface="Calibri"/>
              </a:rPr>
              <a:t>Shell scripts </a:t>
            </a:r>
            <a:r>
              <a:rPr sz="1600">
                <a:solidFill>
                  <a:srgbClr val="222B33"/>
                </a:solidFill>
                <a:latin typeface="Calibri"/>
              </a:rPr>
              <a:t>bash -n syntax check only</a:t>
            </a:r>
          </a:p>
          <a:p>
            <a:pPr>
              <a:spcAft>
                <a:spcPts val="900"/>
              </a:spcAft>
            </a:pPr>
            <a:r>
              <a:rPr b="1" sz="1600">
                <a:solidFill>
                  <a:srgbClr val="0B6B74"/>
                </a:solidFill>
                <a:latin typeface="Calibri"/>
              </a:rPr>
              <a:t>Contract test </a:t>
            </a:r>
            <a:r>
              <a:rPr sz="1600">
                <a:solidFill>
                  <a:srgbClr val="222B33"/>
                </a:solidFill>
                <a:latin typeface="Calibri"/>
              </a:rPr>
              <a:t>bench.c columns vs feature loader</a:t>
            </a:r>
          </a:p>
        </p:txBody>
      </p:sp>
      <p:sp>
        <p:nvSpPr>
          <p:cNvPr id="6" name="Rounded Rectangle 5"/>
          <p:cNvSpPr/>
          <p:nvPr/>
        </p:nvSpPr>
        <p:spPr>
          <a:xfrm>
            <a:off x="7498079" y="1371600"/>
            <a:ext cx="4114800" cy="2194560"/>
          </a:xfrm>
          <a:prstGeom prst="roundRect">
            <a:avLst>
              <a:gd name="adj" fmla="val 6000"/>
            </a:avLst>
          </a:prstGeom>
          <a:solidFill>
            <a:srgbClr val="E6F4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635240" y="1463040"/>
            <a:ext cx="3840480" cy="411480"/>
          </a:xfrm>
          <a:prstGeom prst="rect">
            <a:avLst/>
          </a:prstGeom>
          <a:noFill/>
        </p:spPr>
        <p:txBody>
          <a:bodyPr wrap="square" anchor="t" lIns="45720" rIns="45720">
            <a:spAutoFit/>
          </a:bodyPr>
          <a:lstStyle/>
          <a:p>
            <a:pPr algn="l"/>
            <a:r>
              <a:rPr sz="1600" b="1">
                <a:solidFill>
                  <a:srgbClr val="0B6B74"/>
                </a:solidFill>
                <a:latin typeface="Calibri"/>
              </a:rPr>
              <a:t>Verified</a:t>
            </a:r>
          </a:p>
        </p:txBody>
      </p:sp>
      <p:sp>
        <p:nvSpPr>
          <p:cNvPr id="8" name="TextBox 7"/>
          <p:cNvSpPr txBox="1"/>
          <p:nvPr/>
        </p:nvSpPr>
        <p:spPr>
          <a:xfrm>
            <a:off x="7635240" y="1874519"/>
            <a:ext cx="3840480" cy="1600200"/>
          </a:xfrm>
          <a:prstGeom prst="rect">
            <a:avLst/>
          </a:prstGeom>
          <a:noFill/>
        </p:spPr>
        <p:txBody>
          <a:bodyPr wrap="square" anchor="t" lIns="45720" rIns="45720">
            <a:spAutoFit/>
          </a:bodyPr>
          <a:lstStyle/>
          <a:p>
            <a:pPr algn="l"/>
            <a:r>
              <a:rPr sz="1500" b="0">
                <a:solidFill>
                  <a:srgbClr val="222B33"/>
                </a:solidFill>
                <a:latin typeface="Calibri"/>
              </a:rPr>
              <a:t>Python logic and scoring (unit tests), report and CLI on synthetic input.</a:t>
            </a:r>
          </a:p>
        </p:txBody>
      </p:sp>
      <p:sp>
        <p:nvSpPr>
          <p:cNvPr id="9" name="Rounded Rectangle 8"/>
          <p:cNvSpPr/>
          <p:nvPr/>
        </p:nvSpPr>
        <p:spPr>
          <a:xfrm>
            <a:off x="7498079" y="3749039"/>
            <a:ext cx="4114800" cy="2377440"/>
          </a:xfrm>
          <a:prstGeom prst="roundRect">
            <a:avLst>
              <a:gd name="adj" fmla="val 6000"/>
            </a:avLst>
          </a:prstGeom>
          <a:solidFill>
            <a:srgbClr val="FDEE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3840479"/>
            <a:ext cx="3840480" cy="411480"/>
          </a:xfrm>
          <a:prstGeom prst="rect">
            <a:avLst/>
          </a:prstGeom>
          <a:noFill/>
        </p:spPr>
        <p:txBody>
          <a:bodyPr wrap="square" anchor="t" lIns="45720" rIns="45720">
            <a:spAutoFit/>
          </a:bodyPr>
          <a:lstStyle/>
          <a:p>
            <a:pPr algn="l"/>
            <a:r>
              <a:rPr sz="1600" b="1">
                <a:solidFill>
                  <a:srgbClr val="0B6B74"/>
                </a:solidFill>
                <a:latin typeface="Calibri"/>
              </a:rPr>
              <a:t>NOT verified</a:t>
            </a:r>
          </a:p>
        </p:txBody>
      </p:sp>
      <p:sp>
        <p:nvSpPr>
          <p:cNvPr id="11" name="TextBox 10"/>
          <p:cNvSpPr txBox="1"/>
          <p:nvPr/>
        </p:nvSpPr>
        <p:spPr>
          <a:xfrm>
            <a:off x="7635240" y="4251959"/>
            <a:ext cx="3840480" cy="1783080"/>
          </a:xfrm>
          <a:prstGeom prst="rect">
            <a:avLst/>
          </a:prstGeom>
          <a:noFill/>
        </p:spPr>
        <p:txBody>
          <a:bodyPr wrap="square" anchor="t" lIns="45720" rIns="45720">
            <a:spAutoFit/>
          </a:bodyPr>
          <a:lstStyle/>
          <a:p>
            <a:pPr algn="l"/>
            <a:r>
              <a:rPr sz="1500" b="0">
                <a:solidFill>
                  <a:srgbClr val="222B33"/>
                </a:solidFill>
                <a:latin typeface="Calibri"/>
              </a:rPr>
              <a:t>Native Linux, a KVM host, Volatility, libvirt, any real measurement.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Backup: results tables (empty by design)</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17</a:t>
            </a:r>
          </a:p>
        </p:txBody>
      </p:sp>
      <p:sp>
        <p:nvSpPr>
          <p:cNvPr id="5" name="Rounded Rectangle 4"/>
          <p:cNvSpPr/>
          <p:nvPr/>
        </p:nvSpPr>
        <p:spPr>
          <a:xfrm>
            <a:off x="548640" y="1280160"/>
            <a:ext cx="11064240" cy="548640"/>
          </a:xfrm>
          <a:prstGeom prst="roundRect">
            <a:avLst>
              <a:gd name="adj" fmla="val 6000"/>
            </a:avLst>
          </a:prstGeom>
          <a:solidFill>
            <a:srgbClr val="FFF1D6"/>
          </a:solidFill>
          <a:ln w="19050">
            <a:solidFill>
              <a:srgbClr val="8A5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25880"/>
            <a:ext cx="10881360" cy="457200"/>
          </a:xfrm>
          <a:prstGeom prst="rect">
            <a:avLst/>
          </a:prstGeom>
          <a:noFill/>
        </p:spPr>
        <p:txBody>
          <a:bodyPr wrap="square" anchor="ctr" lIns="45720" rIns="45720">
            <a:spAutoFit/>
          </a:bodyPr>
          <a:lstStyle/>
          <a:p>
            <a:pPr algn="l"/>
            <a:r>
              <a:rPr sz="1500" b="1">
                <a:solidFill>
                  <a:srgbClr val="8A5000"/>
                </a:solidFill>
                <a:latin typeface="Calibri"/>
              </a:rPr>
              <a:t>Remaining work, NOT part of this submission: E1 not built; no native-vs-VM, M2-dump or Volatility results.</a:t>
            </a:r>
          </a:p>
        </p:txBody>
      </p:sp>
      <p:graphicFrame>
        <p:nvGraphicFramePr>
          <p:cNvPr id="7" name="Table 6"/>
          <p:cNvGraphicFramePr>
            <a:graphicFrameLocks noGrp="1"/>
          </p:cNvGraphicFramePr>
          <p:nvPr/>
        </p:nvGraphicFramePr>
        <p:xfrm>
          <a:off x="548640" y="2103120"/>
          <a:ext cx="5486400" cy="2286000"/>
        </p:xfrm>
        <a:graphic>
          <a:graphicData uri="http://schemas.openxmlformats.org/drawingml/2006/table">
            <a:tbl>
              <a:tblPr firstRow="1" bandRow="1">
                <a:tableStyleId>{5C22544A-7EE6-4342-B048-85BDC9FD1C3A}</a:tableStyleId>
              </a:tblPr>
              <a:tblGrid>
                <a:gridCol w="2011680"/>
                <a:gridCol w="1371600"/>
                <a:gridCol w="2103120"/>
              </a:tblGrid>
              <a:tr h="457200">
                <a:tc>
                  <a:txBody>
                    <a:bodyPr wrap="square"/>
                    <a:lstStyle/>
                    <a:p>
                      <a:r>
                        <a:rPr sz="1400" b="1">
                          <a:solidFill>
                            <a:srgbClr val="FFFFFF"/>
                          </a:solidFill>
                          <a:latin typeface="Calibri"/>
                        </a:rPr>
                        <a:t>M4</a:t>
                      </a:r>
                    </a:p>
                  </a:txBody>
                  <a:tcPr marL="73152" marR="73152" marT="27432" marB="27432" anchor="ctr">
                    <a:solidFill>
                      <a:srgbClr val="142B3F"/>
                    </a:solidFill>
                  </a:tcPr>
                </a:tc>
                <a:tc>
                  <a:txBody>
                    <a:bodyPr wrap="square"/>
                    <a:lstStyle/>
                    <a:p>
                      <a:r>
                        <a:rPr sz="1400" b="1">
                          <a:solidFill>
                            <a:srgbClr val="FFFFFF"/>
                          </a:solidFill>
                          <a:latin typeface="Calibri"/>
                        </a:rPr>
                        <a:t>Result</a:t>
                      </a:r>
                    </a:p>
                  </a:txBody>
                  <a:tcPr marL="73152" marR="73152" marT="27432" marB="27432" anchor="ctr">
                    <a:solidFill>
                      <a:srgbClr val="142B3F"/>
                    </a:solidFill>
                  </a:tcPr>
                </a:tc>
                <a:tc>
                  <a:txBody>
                    <a:bodyPr wrap="square"/>
                    <a:lstStyle/>
                    <a:p>
                      <a:r>
                        <a:rPr sz="1400" b="1">
                          <a:solidFill>
                            <a:srgbClr val="FFFFFF"/>
                          </a:solidFill>
                          <a:latin typeface="Calibri"/>
                        </a:rPr>
                        <a:t>Threshold</a:t>
                      </a:r>
                    </a:p>
                  </a:txBody>
                  <a:tcPr marL="73152" marR="73152" marT="27432" marB="27432" anchor="ctr">
                    <a:solidFill>
                      <a:srgbClr val="142B3F"/>
                    </a:solidFill>
                  </a:tcPr>
                </a:tc>
              </a:tr>
              <a:tr h="457200">
                <a:tc>
                  <a:txBody>
                    <a:bodyPr wrap="square"/>
                    <a:lstStyle/>
                    <a:p>
                      <a:r>
                        <a:rPr sz="1400" b="0">
                          <a:solidFill>
                            <a:srgbClr val="222B33"/>
                          </a:solidFill>
                          <a:latin typeface="Calibri"/>
                        </a:rPr>
                        <a:t>H1 (AUROC)</a:t>
                      </a:r>
                    </a:p>
                  </a:txBody>
                  <a:tcPr marL="73152" marR="73152" marT="27432" marB="27432" anchor="ctr">
                    <a:solidFill>
                      <a:srgbClr val="EAF3F4"/>
                    </a:solidFill>
                  </a:tcPr>
                </a:tc>
                <a:tc>
                  <a:txBody>
                    <a:bodyPr wrap="square"/>
                    <a:lstStyle/>
                    <a:p>
                      <a:r>
                        <a:rPr sz="1400" b="0">
                          <a:solidFill>
                            <a:srgbClr val="222B33"/>
                          </a:solidFill>
                          <a:latin typeface="Calibri"/>
                        </a:rPr>
                        <a:t>not done</a:t>
                      </a:r>
                    </a:p>
                  </a:txBody>
                  <a:tcPr marL="73152" marR="73152" marT="27432" marB="27432" anchor="ctr">
                    <a:solidFill>
                      <a:srgbClr val="EAF3F4"/>
                    </a:solidFill>
                  </a:tcPr>
                </a:tc>
                <a:tc>
                  <a:txBody>
                    <a:bodyPr wrap="square"/>
                    <a:lstStyle/>
                    <a:p>
                      <a:r>
                        <a:rPr sz="1400" b="0">
                          <a:solidFill>
                            <a:srgbClr val="222B33"/>
                          </a:solidFill>
                          <a:latin typeface="Calibri"/>
                        </a:rPr>
                        <a:t>p &lt; 0.05</a:t>
                      </a:r>
                    </a:p>
                  </a:txBody>
                  <a:tcPr marL="73152" marR="73152" marT="27432" marB="27432" anchor="ctr">
                    <a:solidFill>
                      <a:srgbClr val="EAF3F4"/>
                    </a:solidFill>
                  </a:tcPr>
                </a:tc>
              </a:tr>
              <a:tr h="457200">
                <a:tc>
                  <a:txBody>
                    <a:bodyPr wrap="square"/>
                    <a:lstStyle/>
                    <a:p>
                      <a:r>
                        <a:rPr sz="1400" b="0">
                          <a:solidFill>
                            <a:srgbClr val="222B33"/>
                          </a:solidFill>
                          <a:latin typeface="Calibri"/>
                        </a:rPr>
                        <a:t>H2 (FPR)</a:t>
                      </a:r>
                    </a:p>
                  </a:txBody>
                  <a:tcPr marL="73152" marR="73152" marT="27432" marB="27432" anchor="ctr">
                    <a:solidFill>
                      <a:srgbClr val="FFFFFF"/>
                    </a:solidFill>
                  </a:tcPr>
                </a:tc>
                <a:tc>
                  <a:txBody>
                    <a:bodyPr wrap="square"/>
                    <a:lstStyle/>
                    <a:p>
                      <a:r>
                        <a:rPr sz="1400" b="0">
                          <a:solidFill>
                            <a:srgbClr val="222B33"/>
                          </a:solidFill>
                          <a:latin typeface="Calibri"/>
                        </a:rPr>
                        <a:t>not done</a:t>
                      </a:r>
                    </a:p>
                  </a:txBody>
                  <a:tcPr marL="73152" marR="73152" marT="27432" marB="27432" anchor="ctr">
                    <a:solidFill>
                      <a:srgbClr val="FFFFFF"/>
                    </a:solidFill>
                  </a:tcPr>
                </a:tc>
                <a:tc>
                  <a:txBody>
                    <a:bodyPr wrap="square"/>
                    <a:lstStyle/>
                    <a:p>
                      <a:r>
                        <a:rPr sz="1400" b="0">
                          <a:solidFill>
                            <a:srgbClr val="222B33"/>
                          </a:solidFill>
                          <a:latin typeface="Calibri"/>
                        </a:rPr>
                        <a:t>CI excl. 0, Holm</a:t>
                      </a:r>
                    </a:p>
                  </a:txBody>
                  <a:tcPr marL="73152" marR="73152" marT="27432" marB="27432" anchor="ctr">
                    <a:solidFill>
                      <a:srgbClr val="FFFFFF"/>
                    </a:solidFill>
                  </a:tcPr>
                </a:tc>
              </a:tr>
              <a:tr h="457200">
                <a:tc>
                  <a:txBody>
                    <a:bodyPr wrap="square"/>
                    <a:lstStyle/>
                    <a:p>
                      <a:r>
                        <a:rPr sz="1400" b="0">
                          <a:solidFill>
                            <a:srgbClr val="222B33"/>
                          </a:solidFill>
                          <a:latin typeface="Calibri"/>
                        </a:rPr>
                        <a:t>H3 (AUROC drop)</a:t>
                      </a:r>
                    </a:p>
                  </a:txBody>
                  <a:tcPr marL="73152" marR="73152" marT="27432" marB="27432" anchor="ctr">
                    <a:solidFill>
                      <a:srgbClr val="EAF3F4"/>
                    </a:solidFill>
                  </a:tcPr>
                </a:tc>
                <a:tc>
                  <a:txBody>
                    <a:bodyPr wrap="square"/>
                    <a:lstStyle/>
                    <a:p>
                      <a:r>
                        <a:rPr sz="1400" b="0">
                          <a:solidFill>
                            <a:srgbClr val="222B33"/>
                          </a:solidFill>
                          <a:latin typeface="Calibri"/>
                        </a:rPr>
                        <a:t>not done</a:t>
                      </a:r>
                    </a:p>
                  </a:txBody>
                  <a:tcPr marL="73152" marR="73152" marT="27432" marB="27432" anchor="ctr">
                    <a:solidFill>
                      <a:srgbClr val="EAF3F4"/>
                    </a:solidFill>
                  </a:tcPr>
                </a:tc>
                <a:tc>
                  <a:txBody>
                    <a:bodyPr wrap="square"/>
                    <a:lstStyle/>
                    <a:p>
                      <a:r>
                        <a:rPr sz="1400" b="0">
                          <a:solidFill>
                            <a:srgbClr val="222B33"/>
                          </a:solidFill>
                          <a:latin typeface="Calibri"/>
                        </a:rPr>
                        <a:t>&lt; 0.05, Holm</a:t>
                      </a:r>
                    </a:p>
                  </a:txBody>
                  <a:tcPr marL="73152" marR="73152" marT="27432" marB="27432" anchor="ctr">
                    <a:solidFill>
                      <a:srgbClr val="EAF3F4"/>
                    </a:solidFill>
                  </a:tcPr>
                </a:tc>
              </a:tr>
              <a:tr h="457200">
                <a:tc>
                  <a:txBody>
                    <a:bodyPr wrap="square"/>
                    <a:lstStyle/>
                    <a:p>
                      <a:r>
                        <a:rPr sz="1400" b="0">
                          <a:solidFill>
                            <a:srgbClr val="222B33"/>
                          </a:solidFill>
                          <a:latin typeface="Calibri"/>
                        </a:rPr>
                        <a:t>H4 (cost)</a:t>
                      </a:r>
                    </a:p>
                  </a:txBody>
                  <a:tcPr marL="73152" marR="73152" marT="27432" marB="27432" anchor="ctr">
                    <a:solidFill>
                      <a:srgbClr val="FFFFFF"/>
                    </a:solidFill>
                  </a:tcPr>
                </a:tc>
                <a:tc>
                  <a:txBody>
                    <a:bodyPr wrap="square"/>
                    <a:lstStyle/>
                    <a:p>
                      <a:r>
                        <a:rPr sz="1400" b="0">
                          <a:solidFill>
                            <a:srgbClr val="222B33"/>
                          </a:solidFill>
                          <a:latin typeface="Calibri"/>
                        </a:rPr>
                        <a:t>not done</a:t>
                      </a:r>
                    </a:p>
                  </a:txBody>
                  <a:tcPr marL="73152" marR="73152" marT="27432" marB="27432" anchor="ctr">
                    <a:solidFill>
                      <a:srgbClr val="FFFFFF"/>
                    </a:solidFill>
                  </a:tcPr>
                </a:tc>
                <a:tc>
                  <a:txBody>
                    <a:bodyPr wrap="square"/>
                    <a:lstStyle/>
                    <a:p>
                      <a:r>
                        <a:rPr sz="1400" b="0">
                          <a:solidFill>
                            <a:srgbClr val="222B33"/>
                          </a:solidFill>
                          <a:latin typeface="Calibri"/>
                        </a:rPr>
                        <a:t>&lt; 10 s, &lt; 5%</a:t>
                      </a:r>
                    </a:p>
                  </a:txBody>
                  <a:tcPr marL="73152" marR="73152" marT="27432" marB="27432" anchor="ctr">
                    <a:solidFill>
                      <a:srgbClr val="FFFFFF"/>
                    </a:solidFill>
                  </a:tcPr>
                </a:tc>
              </a:tr>
            </a:tbl>
          </a:graphicData>
        </a:graphic>
      </p:graphicFrame>
      <p:graphicFrame>
        <p:nvGraphicFramePr>
          <p:cNvPr id="8" name="Table 7"/>
          <p:cNvGraphicFramePr>
            <a:graphicFrameLocks noGrp="1"/>
          </p:cNvGraphicFramePr>
          <p:nvPr/>
        </p:nvGraphicFramePr>
        <p:xfrm>
          <a:off x="6309360" y="2103120"/>
          <a:ext cx="5303520" cy="2286000"/>
        </p:xfrm>
        <a:graphic>
          <a:graphicData uri="http://schemas.openxmlformats.org/drawingml/2006/table">
            <a:tbl>
              <a:tblPr firstRow="1" bandRow="1">
                <a:tableStyleId>{5C22544A-7EE6-4342-B048-85BDC9FD1C3A}</a:tableStyleId>
              </a:tblPr>
              <a:tblGrid>
                <a:gridCol w="1463040"/>
                <a:gridCol w="1645920"/>
                <a:gridCol w="2194560"/>
              </a:tblGrid>
              <a:tr h="457200">
                <a:tc>
                  <a:txBody>
                    <a:bodyPr wrap="square"/>
                    <a:lstStyle/>
                    <a:p>
                      <a:r>
                        <a:rPr sz="1400" b="1">
                          <a:solidFill>
                            <a:srgbClr val="FFFFFF"/>
                          </a:solidFill>
                          <a:latin typeface="Calibri"/>
                        </a:rPr>
                        <a:t>Module</a:t>
                      </a:r>
                    </a:p>
                  </a:txBody>
                  <a:tcPr marL="73152" marR="73152" marT="27432" marB="27432" anchor="ctr">
                    <a:solidFill>
                      <a:srgbClr val="142B3F"/>
                    </a:solidFill>
                  </a:tcPr>
                </a:tc>
                <a:tc>
                  <a:txBody>
                    <a:bodyPr wrap="square"/>
                    <a:lstStyle/>
                    <a:p>
                      <a:r>
                        <a:rPr sz="1400" b="1">
                          <a:solidFill>
                            <a:srgbClr val="FFFFFF"/>
                          </a:solidFill>
                          <a:latin typeface="Calibri"/>
                        </a:rPr>
                        <a:t>Ground truth</a:t>
                      </a:r>
                    </a:p>
                  </a:txBody>
                  <a:tcPr marL="73152" marR="73152" marT="27432" marB="27432" anchor="ctr">
                    <a:solidFill>
                      <a:srgbClr val="142B3F"/>
                    </a:solidFill>
                  </a:tcPr>
                </a:tc>
                <a:tc>
                  <a:txBody>
                    <a:bodyPr wrap="square"/>
                    <a:lstStyle/>
                    <a:p>
                      <a:r>
                        <a:rPr sz="1400" b="1">
                          <a:solidFill>
                            <a:srgbClr val="FFFFFF"/>
                          </a:solidFill>
                          <a:latin typeface="Calibri"/>
                        </a:rPr>
                        <a:t>Result</a:t>
                      </a:r>
                    </a:p>
                  </a:txBody>
                  <a:tcPr marL="73152" marR="73152" marT="27432" marB="27432" anchor="ctr">
                    <a:solidFill>
                      <a:srgbClr val="142B3F"/>
                    </a:solidFill>
                  </a:tcPr>
                </a:tc>
              </a:tr>
              <a:tr h="457200">
                <a:tc>
                  <a:txBody>
                    <a:bodyPr wrap="square"/>
                    <a:lstStyle/>
                    <a:p>
                      <a:r>
                        <a:rPr sz="1400" b="0">
                          <a:solidFill>
                            <a:srgbClr val="222B33"/>
                          </a:solidFill>
                          <a:latin typeface="Calibri"/>
                        </a:rPr>
                        <a:t>M1 fixtures</a:t>
                      </a:r>
                    </a:p>
                  </a:txBody>
                  <a:tcPr marL="73152" marR="73152" marT="27432" marB="27432" anchor="ctr">
                    <a:solidFill>
                      <a:srgbClr val="EAF3F4"/>
                    </a:solidFill>
                  </a:tcPr>
                </a:tc>
                <a:tc>
                  <a:txBody>
                    <a:bodyPr wrap="square"/>
                    <a:lstStyle/>
                    <a:p>
                      <a:r>
                        <a:rPr sz="1400" b="0">
                          <a:solidFill>
                            <a:srgbClr val="222B33"/>
                          </a:solidFill>
                          <a:latin typeface="Calibri"/>
                        </a:rPr>
                        <a:t>50 fixtures</a:t>
                      </a:r>
                    </a:p>
                  </a:txBody>
                  <a:tcPr marL="73152" marR="73152" marT="27432" marB="27432" anchor="ctr">
                    <a:solidFill>
                      <a:srgbClr val="EAF3F4"/>
                    </a:solidFill>
                  </a:tcPr>
                </a:tc>
                <a:tc>
                  <a:txBody>
                    <a:bodyPr wrap="square"/>
                    <a:lstStyle/>
                    <a:p>
                      <a:r>
                        <a:rPr sz="1400" b="0">
                          <a:solidFill>
                            <a:srgbClr val="222B33"/>
                          </a:solidFill>
                          <a:latin typeface="Calibri"/>
                        </a:rPr>
                        <a:t>84/84 (self-check)</a:t>
                      </a:r>
                    </a:p>
                  </a:txBody>
                  <a:tcPr marL="73152" marR="73152" marT="27432" marB="27432" anchor="ctr">
                    <a:solidFill>
                      <a:srgbClr val="EAF3F4"/>
                    </a:solidFill>
                  </a:tcPr>
                </a:tc>
              </a:tr>
              <a:tr h="457200">
                <a:tc>
                  <a:txBody>
                    <a:bodyPr wrap="square"/>
                    <a:lstStyle/>
                    <a:p>
                      <a:r>
                        <a:rPr sz="1400" b="0">
                          <a:solidFill>
                            <a:srgbClr val="222B33"/>
                          </a:solidFill>
                          <a:latin typeface="Calibri"/>
                        </a:rPr>
                        <a:t>M1 real</a:t>
                      </a:r>
                    </a:p>
                  </a:txBody>
                  <a:tcPr marL="73152" marR="73152" marT="27432" marB="27432" anchor="ctr">
                    <a:solidFill>
                      <a:srgbClr val="FFFFFF"/>
                    </a:solidFill>
                  </a:tcPr>
                </a:tc>
                <a:tc>
                  <a:txBody>
                    <a:bodyPr wrap="square"/>
                    <a:lstStyle/>
                    <a:p>
                      <a:r>
                        <a:rPr sz="1400" b="0">
                          <a:solidFill>
                            <a:srgbClr val="222B33"/>
                          </a:solidFill>
                          <a:latin typeface="Calibri"/>
                        </a:rPr>
                        <a:t>~10 configs</a:t>
                      </a:r>
                    </a:p>
                  </a:txBody>
                  <a:tcPr marL="73152" marR="73152" marT="27432" marB="27432" anchor="ctr">
                    <a:solidFill>
                      <a:srgbClr val="FFFFFF"/>
                    </a:solidFill>
                  </a:tcPr>
                </a:tc>
                <a:tc>
                  <a:txBody>
                    <a:bodyPr wrap="square"/>
                    <a:lstStyle/>
                    <a:p>
                      <a:r>
                        <a:rPr sz="1400" b="0">
                          <a:solidFill>
                            <a:srgbClr val="222B33"/>
                          </a:solidFill>
                          <a:latin typeface="Calibri"/>
                        </a:rPr>
                        <a:t>none</a:t>
                      </a:r>
                    </a:p>
                  </a:txBody>
                  <a:tcPr marL="73152" marR="73152" marT="27432" marB="27432" anchor="ctr">
                    <a:solidFill>
                      <a:srgbClr val="FFFFFF"/>
                    </a:solidFill>
                  </a:tcPr>
                </a:tc>
              </a:tr>
              <a:tr h="457200">
                <a:tc>
                  <a:txBody>
                    <a:bodyPr wrap="square"/>
                    <a:lstStyle/>
                    <a:p>
                      <a:r>
                        <a:rPr sz="1400" b="0">
                          <a:solidFill>
                            <a:srgbClr val="222B33"/>
                          </a:solidFill>
                          <a:latin typeface="Calibri"/>
                        </a:rPr>
                        <a:t>M2</a:t>
                      </a:r>
                    </a:p>
                  </a:txBody>
                  <a:tcPr marL="73152" marR="73152" marT="27432" marB="27432" anchor="ctr">
                    <a:solidFill>
                      <a:srgbClr val="EAF3F4"/>
                    </a:solidFill>
                  </a:tcPr>
                </a:tc>
                <a:tc>
                  <a:txBody>
                    <a:bodyPr wrap="square"/>
                    <a:lstStyle/>
                    <a:p>
                      <a:r>
                        <a:rPr sz="1400" b="0">
                          <a:solidFill>
                            <a:srgbClr val="222B33"/>
                          </a:solidFill>
                          <a:latin typeface="Calibri"/>
                        </a:rPr>
                        <a:t>12 cells</a:t>
                      </a:r>
                    </a:p>
                  </a:txBody>
                  <a:tcPr marL="73152" marR="73152" marT="27432" marB="27432" anchor="ctr">
                    <a:solidFill>
                      <a:srgbClr val="EAF3F4"/>
                    </a:solidFill>
                  </a:tcPr>
                </a:tc>
                <a:tc>
                  <a:txBody>
                    <a:bodyPr wrap="square"/>
                    <a:lstStyle/>
                    <a:p>
                      <a:r>
                        <a:rPr sz="1400" b="0">
                          <a:solidFill>
                            <a:srgbClr val="222B33"/>
                          </a:solidFill>
                          <a:latin typeface="Calibri"/>
                        </a:rPr>
                        <a:t>none</a:t>
                      </a:r>
                    </a:p>
                  </a:txBody>
                  <a:tcPr marL="73152" marR="73152" marT="27432" marB="27432" anchor="ctr">
                    <a:solidFill>
                      <a:srgbClr val="EAF3F4"/>
                    </a:solidFill>
                  </a:tcPr>
                </a:tc>
              </a:tr>
              <a:tr h="457200">
                <a:tc>
                  <a:txBody>
                    <a:bodyPr wrap="square"/>
                    <a:lstStyle/>
                    <a:p>
                      <a:r>
                        <a:rPr sz="1400" b="0">
                          <a:solidFill>
                            <a:srgbClr val="222B33"/>
                          </a:solidFill>
                          <a:latin typeface="Calibri"/>
                        </a:rPr>
                        <a:t>M3</a:t>
                      </a:r>
                    </a:p>
                  </a:txBody>
                  <a:tcPr marL="73152" marR="73152" marT="27432" marB="27432" anchor="ctr">
                    <a:solidFill>
                      <a:srgbClr val="FFFFFF"/>
                    </a:solidFill>
                  </a:tcPr>
                </a:tc>
                <a:tc>
                  <a:txBody>
                    <a:bodyPr wrap="square"/>
                    <a:lstStyle/>
                    <a:p>
                      <a:r>
                        <a:rPr sz="1400" b="0">
                          <a:solidFill>
                            <a:srgbClr val="222B33"/>
                          </a:solidFill>
                          <a:latin typeface="Calibri"/>
                        </a:rPr>
                        <a:t>public images</a:t>
                      </a:r>
                    </a:p>
                  </a:txBody>
                  <a:tcPr marL="73152" marR="73152" marT="27432" marB="27432" anchor="ctr">
                    <a:solidFill>
                      <a:srgbClr val="FFFFFF"/>
                    </a:solidFill>
                  </a:tcPr>
                </a:tc>
                <a:tc>
                  <a:txBody>
                    <a:bodyPr wrap="square"/>
                    <a:lstStyle/>
                    <a:p>
                      <a:r>
                        <a:rPr sz="1400" b="0">
                          <a:solidFill>
                            <a:srgbClr val="222B33"/>
                          </a:solidFill>
                          <a:latin typeface="Calibri"/>
                        </a:rPr>
                        <a:t>none</a:t>
                      </a:r>
                    </a:p>
                  </a:txBody>
                  <a:tcPr marL="73152" marR="73152" marT="27432" marB="27432" anchor="ctr">
                    <a:solidFill>
                      <a:srgbClr val="FFFFFF"/>
                    </a:solidFill>
                  </a:tcPr>
                </a:tc>
              </a:tr>
            </a:tbl>
          </a:graphicData>
        </a:graphic>
      </p:graphicFrame>
      <p:sp>
        <p:nvSpPr>
          <p:cNvPr id="9" name="TextBox 8"/>
          <p:cNvSpPr txBox="1"/>
          <p:nvPr/>
        </p:nvSpPr>
        <p:spPr>
          <a:xfrm>
            <a:off x="548640" y="4663440"/>
            <a:ext cx="11064240" cy="914400"/>
          </a:xfrm>
          <a:prstGeom prst="rect">
            <a:avLst/>
          </a:prstGeom>
          <a:noFill/>
        </p:spPr>
        <p:txBody>
          <a:bodyPr wrap="square" anchor="t" lIns="45720" rIns="45720">
            <a:spAutoFit/>
          </a:bodyPr>
          <a:lstStyle/>
          <a:p>
            <a:pPr algn="l"/>
            <a:r>
              <a:rPr sz="1600" b="0">
                <a:solidFill>
                  <a:srgbClr val="5B6770"/>
                </a:solidFill>
                <a:latin typeface="Calibri"/>
              </a:rPr>
              <a:t>Also not done: indicator-leak table, F1-vs-measurement-time curve, per-VM result matrix.</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822960"/>
          </a:xfrm>
        </p:spPr>
        <p:txBody>
          <a:bodyPr wrap="square" anchor="ctr"/>
          <a:lstStyle/>
          <a:p>
            <a:pPr algn="l"/>
            <a:r>
              <a:rPr sz="3200" b="1">
                <a:solidFill>
                  <a:srgbClr val="142B3F"/>
                </a:solidFill>
                <a:latin typeface="Calibri"/>
              </a:rPr>
              <a:t>Backup: likely questions</a:t>
            </a:r>
          </a:p>
        </p:txBody>
      </p:sp>
      <p:sp>
        <p:nvSpPr>
          <p:cNvPr id="3" name="TextBox 2"/>
          <p:cNvSpPr txBox="1"/>
          <p:nvPr/>
        </p:nvSpPr>
        <p:spPr>
          <a:xfrm>
            <a:off x="548640" y="6355080"/>
            <a:ext cx="8686800" cy="365760"/>
          </a:xfrm>
          <a:prstGeom prst="rect">
            <a:avLst/>
          </a:prstGeom>
          <a:noFill/>
        </p:spPr>
        <p:txBody>
          <a:bodyPr wrap="square" anchor="t" lIns="45720" rIns="45720">
            <a:spAutoFit/>
          </a:bodyPr>
          <a:lstStyle/>
          <a:p>
            <a:pPr algn="l"/>
            <a:r>
              <a:rPr sz="1200" b="0">
                <a:solidFill>
                  <a:srgbClr val="5B6770"/>
                </a:solidFill>
                <a:latin typeface="Calibri"/>
              </a:rPr>
              <a:t>vsec | one student with an AI assistant | [STUDENT NAME]</a:t>
            </a:r>
          </a:p>
        </p:txBody>
      </p:sp>
      <p:sp>
        <p:nvSpPr>
          <p:cNvPr id="4" name="TextBox 3"/>
          <p:cNvSpPr txBox="1"/>
          <p:nvPr/>
        </p:nvSpPr>
        <p:spPr>
          <a:xfrm>
            <a:off x="10972800" y="6355080"/>
            <a:ext cx="731520" cy="365760"/>
          </a:xfrm>
          <a:prstGeom prst="rect">
            <a:avLst/>
          </a:prstGeom>
          <a:noFill/>
        </p:spPr>
        <p:txBody>
          <a:bodyPr wrap="square" anchor="t" lIns="45720" rIns="45720">
            <a:spAutoFit/>
          </a:bodyPr>
          <a:lstStyle/>
          <a:p>
            <a:pPr algn="r"/>
            <a:r>
              <a:rPr sz="1200" b="0">
                <a:solidFill>
                  <a:srgbClr val="5B6770"/>
                </a:solidFill>
                <a:latin typeface="Calibri"/>
              </a:rPr>
              <a:t>18</a:t>
            </a:r>
          </a:p>
        </p:txBody>
      </p:sp>
      <p:sp>
        <p:nvSpPr>
          <p:cNvPr id="5" name="TextBox 4"/>
          <p:cNvSpPr txBox="1"/>
          <p:nvPr/>
        </p:nvSpPr>
        <p:spPr>
          <a:xfrm>
            <a:off x="548640" y="1280160"/>
            <a:ext cx="6400800" cy="4937760"/>
          </a:xfrm>
          <a:prstGeom prst="rect">
            <a:avLst/>
          </a:prstGeom>
          <a:noFill/>
        </p:spPr>
        <p:txBody>
          <a:bodyPr wrap="square">
            <a:spAutoFit/>
          </a:bodyPr>
          <a:lstStyle/>
          <a:p>
            <a:pPr>
              <a:spcAft>
                <a:spcPts val="900"/>
              </a:spcAft>
            </a:pPr>
            <a:r>
              <a:rPr b="1" sz="1600">
                <a:solidFill>
                  <a:srgbClr val="0B6B74"/>
                </a:solidFill>
                <a:latin typeface="Calibri"/>
              </a:rPr>
              <a:t>Is 84/84 proof? </a:t>
            </a:r>
            <a:r>
              <a:rPr sz="1600">
                <a:solidFill>
                  <a:srgbClr val="222B33"/>
                </a:solidFill>
                <a:latin typeface="Calibri"/>
              </a:rPr>
              <a:t>no, self-consistency: the checker's author wrote the fixtures, tests by the same AI</a:t>
            </a:r>
          </a:p>
          <a:p>
            <a:pPr>
              <a:spcAft>
                <a:spcPts val="900"/>
              </a:spcAft>
            </a:pPr>
            <a:r>
              <a:rPr b="1" sz="1600">
                <a:solidFill>
                  <a:srgbClr val="0B6B74"/>
                </a:solidFill>
                <a:latin typeface="Calibri"/>
              </a:rPr>
              <a:t>Why E1? </a:t>
            </a:r>
            <a:r>
              <a:rPr sz="1600">
                <a:solidFill>
                  <a:srgbClr val="222B33"/>
                </a:solidFill>
                <a:latin typeface="Calibri"/>
              </a:rPr>
              <a:t>the laptop's Windows already runs on Hyper-V</a:t>
            </a:r>
          </a:p>
          <a:p>
            <a:pPr>
              <a:spcAft>
                <a:spcPts val="900"/>
              </a:spcAft>
            </a:pPr>
            <a:r>
              <a:rPr b="1" sz="1600">
                <a:solidFill>
                  <a:srgbClr val="0B6B74"/>
                </a:solidFill>
                <a:latin typeface="Calibri"/>
              </a:rPr>
              <a:t>If no E1? </a:t>
            </a:r>
            <a:r>
              <a:rPr sz="1600">
                <a:solidFill>
                  <a:srgbClr val="222B33"/>
                </a:solidFill>
                <a:latin typeface="Calibri"/>
              </a:rPr>
              <a:t>M4 compares 1 vs 2 virtualization layers (WSL)</a:t>
            </a:r>
          </a:p>
          <a:p>
            <a:pPr>
              <a:spcAft>
                <a:spcPts val="900"/>
              </a:spcAft>
            </a:pPr>
            <a:r>
              <a:rPr b="1" sz="1600">
                <a:solidFill>
                  <a:srgbClr val="0B6B74"/>
                </a:solidFill>
                <a:latin typeface="Calibri"/>
              </a:rPr>
              <a:t>H1 untestable? </a:t>
            </a:r>
            <a:r>
              <a:rPr sz="1600">
                <a:solidFill>
                  <a:srgbClr val="222B33"/>
                </a:solidFill>
                <a:latin typeface="Calibri"/>
              </a:rPr>
              <a:t>ceiling rule: timing alone near AUROC 1.0</a:t>
            </a:r>
          </a:p>
          <a:p>
            <a:pPr>
              <a:spcAft>
                <a:spcPts val="900"/>
              </a:spcAft>
            </a:pPr>
            <a:r>
              <a:rPr b="1" sz="1600">
                <a:solidFill>
                  <a:srgbClr val="0B6B74"/>
                </a:solidFill>
                <a:latin typeface="Calibri"/>
              </a:rPr>
              <a:t>Is kvm-masked a VMBR? </a:t>
            </a:r>
            <a:r>
              <a:rPr sz="1600">
                <a:solidFill>
                  <a:srgbClr val="222B33"/>
                </a:solidFill>
                <a:latin typeface="Calibri"/>
              </a:rPr>
              <a:t>no, a non-adaptive stand-in</a:t>
            </a:r>
          </a:p>
          <a:p>
            <a:pPr>
              <a:spcAft>
                <a:spcPts val="900"/>
              </a:spcAft>
            </a:pPr>
            <a:r>
              <a:rPr b="1" sz="1600">
                <a:solidFill>
                  <a:srgbClr val="0B6B74"/>
                </a:solidFill>
                <a:latin typeface="Calibri"/>
              </a:rPr>
              <a:t>Where are the numbers? </a:t>
            </a:r>
            <a:r>
              <a:rPr sz="1600">
                <a:solidFill>
                  <a:srgbClr val="222B33"/>
                </a:solidFill>
                <a:latin typeface="Calibri"/>
              </a:rPr>
              <a:t>none yet; E1 not built</a:t>
            </a:r>
          </a:p>
        </p:txBody>
      </p:sp>
      <p:sp>
        <p:nvSpPr>
          <p:cNvPr id="6" name="Rounded Rectangle 5"/>
          <p:cNvSpPr/>
          <p:nvPr/>
        </p:nvSpPr>
        <p:spPr>
          <a:xfrm>
            <a:off x="7223760" y="1371600"/>
            <a:ext cx="4389120" cy="2743200"/>
          </a:xfrm>
          <a:prstGeom prst="roundRect">
            <a:avLst>
              <a:gd name="adj" fmla="val 6000"/>
            </a:avLst>
          </a:prstGeom>
          <a:solidFill>
            <a:srgbClr val="EAF3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60920" y="1463040"/>
            <a:ext cx="4114800" cy="411480"/>
          </a:xfrm>
          <a:prstGeom prst="rect">
            <a:avLst/>
          </a:prstGeom>
          <a:noFill/>
        </p:spPr>
        <p:txBody>
          <a:bodyPr wrap="square" anchor="t" lIns="45720" rIns="45720">
            <a:spAutoFit/>
          </a:bodyPr>
          <a:lstStyle/>
          <a:p>
            <a:pPr algn="l"/>
            <a:r>
              <a:rPr sz="1600" b="1">
                <a:solidFill>
                  <a:srgbClr val="0B6B74"/>
                </a:solidFill>
                <a:latin typeface="Calibri"/>
              </a:rPr>
              <a:t>Files</a:t>
            </a:r>
          </a:p>
        </p:txBody>
      </p:sp>
      <p:sp>
        <p:nvSpPr>
          <p:cNvPr id="8" name="TextBox 7"/>
          <p:cNvSpPr txBox="1"/>
          <p:nvPr/>
        </p:nvSpPr>
        <p:spPr>
          <a:xfrm>
            <a:off x="7360920" y="1874519"/>
            <a:ext cx="4114800" cy="2148840"/>
          </a:xfrm>
          <a:prstGeom prst="rect">
            <a:avLst/>
          </a:prstGeom>
          <a:noFill/>
        </p:spPr>
        <p:txBody>
          <a:bodyPr wrap="square" anchor="t" lIns="45720" rIns="45720">
            <a:spAutoFit/>
          </a:bodyPr>
          <a:lstStyle/>
          <a:p>
            <a:pPr algn="l"/>
            <a:r>
              <a:rPr sz="1500" b="0">
                <a:solidFill>
                  <a:srgbClr val="222B33"/>
                </a:solidFill>
                <a:latin typeface="Calibri"/>
              </a:rPr>
              <a:t>FINAL_PROJECT_PLAN.md
README.md
prereg.md (draft)
docs/YOUR_TASKS.md
vsec/taxonomy.yaml</a:t>
            </a:r>
          </a:p>
        </p:txBody>
      </p:sp>
      <p:sp>
        <p:nvSpPr>
          <p:cNvPr id="9" name="TextBox 8"/>
          <p:cNvSpPr txBox="1"/>
          <p:nvPr/>
        </p:nvSpPr>
        <p:spPr>
          <a:xfrm>
            <a:off x="7223760" y="4389120"/>
            <a:ext cx="4389120" cy="1463040"/>
          </a:xfrm>
          <a:prstGeom prst="rect">
            <a:avLst/>
          </a:prstGeom>
          <a:noFill/>
        </p:spPr>
        <p:txBody>
          <a:bodyPr wrap="square" anchor="t" lIns="45720" rIns="45720">
            <a:spAutoFit/>
          </a:bodyPr>
          <a:lstStyle/>
          <a:p>
            <a:pPr algn="l"/>
            <a:r>
              <a:rPr sz="1400" b="0">
                <a:solidFill>
                  <a:srgbClr val="5B6770"/>
                </a:solidFill>
                <a:latin typeface="Calibri"/>
              </a:rPr>
              <a:t>Built with an AI coding assistant (Claude); AI-agent reviews only, no human review. Design and implementation, no measured results.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vsec: taxonomy-driven security assessment for KVM virtualization</dc:title>
  <dc:subject>University talk, about 10 minutes</dc:subject>
  <dc:creator>[STUDENT NAME]</dc:creator>
  <cp:keywords/>
  <dc:description>generated using python-pptx</dc:description>
  <cp:lastModifiedBy>[STUDENT NAME]</cp:lastModifiedBy>
  <cp:revision>1</cp:revision>
  <dcterms:created xsi:type="dcterms:W3CDTF">2026-10-04T17:42:50Z</dcterms:created>
  <dcterms:modified xsi:type="dcterms:W3CDTF">2026-10-04T17:42:50Z</dcterms:modified>
  <cp:category/>
  <cp:lastPrinted>2026-10-04T17:42:50Z</cp:lastPrinted>
</cp:coreProperties>
</file>